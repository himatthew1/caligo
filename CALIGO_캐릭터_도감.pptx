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image" Target="../media/image-3-2.png"/><Relationship Id="rId3" Type="http://schemas.openxmlformats.org/officeDocument/2006/relationships/image" Target="../media/image-3-3.gif"/><Relationship Id="rId4" Type="http://schemas.openxmlformats.org/officeDocument/2006/relationships/image" Target="../media/image-3-4.png"/><Relationship Id="rId5" Type="http://schemas.openxmlformats.org/officeDocument/2006/relationships/image" Target="../media/image-3-5.gif"/><Relationship Id="rId6" Type="http://schemas.openxmlformats.org/officeDocument/2006/relationships/image" Target="../media/image-3-6.png"/><Relationship Id="rId7" Type="http://schemas.openxmlformats.org/officeDocument/2006/relationships/image" Target="../media/image-3-7.gif"/><Relationship Id="rId8" Type="http://schemas.openxmlformats.org/officeDocument/2006/relationships/image" Target="../media/image-3-8.png"/><Relationship Id="rId9" Type="http://schemas.openxmlformats.org/officeDocument/2006/relationships/image" Target="../media/image-3-9.gif"/><Relationship Id="rId10" Type="http://schemas.openxmlformats.org/officeDocument/2006/relationships/image" Target="../media/image-3-10.gif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gif"/><Relationship Id="rId2" Type="http://schemas.openxmlformats.org/officeDocument/2006/relationships/image" Target="../media/image-4-2.png"/><Relationship Id="rId3" Type="http://schemas.openxmlformats.org/officeDocument/2006/relationships/image" Target="../media/image-4-3.gif"/><Relationship Id="rId4" Type="http://schemas.openxmlformats.org/officeDocument/2006/relationships/image" Target="../media/image-4-4.png"/><Relationship Id="rId5" Type="http://schemas.openxmlformats.org/officeDocument/2006/relationships/image" Target="../media/image-4-5.gif"/><Relationship Id="rId6" Type="http://schemas.openxmlformats.org/officeDocument/2006/relationships/image" Target="../media/image-4-6.png"/><Relationship Id="rId7" Type="http://schemas.openxmlformats.org/officeDocument/2006/relationships/image" Target="../media/image-4-7.gif"/><Relationship Id="rId8" Type="http://schemas.openxmlformats.org/officeDocument/2006/relationships/image" Target="../media/image-4-8.png"/><Relationship Id="rId9" Type="http://schemas.openxmlformats.org/officeDocument/2006/relationships/image" Target="../media/image-4-9.gif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image" Target="../media/image-5-2.png"/><Relationship Id="rId3" Type="http://schemas.openxmlformats.org/officeDocument/2006/relationships/image" Target="../media/image-5-3.gif"/><Relationship Id="rId4" Type="http://schemas.openxmlformats.org/officeDocument/2006/relationships/image" Target="../media/image-5-4.png"/><Relationship Id="rId5" Type="http://schemas.openxmlformats.org/officeDocument/2006/relationships/image" Target="../media/image-5-5.gif"/><Relationship Id="rId6" Type="http://schemas.openxmlformats.org/officeDocument/2006/relationships/image" Target="../media/image-5-6.png"/><Relationship Id="rId7" Type="http://schemas.openxmlformats.org/officeDocument/2006/relationships/image" Target="../media/image-5-7.gif"/><Relationship Id="rId8" Type="http://schemas.openxmlformats.org/officeDocument/2006/relationships/image" Target="../media/image-5-8.png"/><Relationship Id="rId9" Type="http://schemas.openxmlformats.org/officeDocument/2006/relationships/image" Target="../media/image-5-9.gif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gif"/><Relationship Id="rId2" Type="http://schemas.openxmlformats.org/officeDocument/2006/relationships/image" Target="../media/image-6-2.png"/><Relationship Id="rId3" Type="http://schemas.openxmlformats.org/officeDocument/2006/relationships/image" Target="../media/image-6-3.gif"/><Relationship Id="rId4" Type="http://schemas.openxmlformats.org/officeDocument/2006/relationships/image" Target="../media/image-6-4.png"/><Relationship Id="rId5" Type="http://schemas.openxmlformats.org/officeDocument/2006/relationships/image" Target="../media/image-6-5.gif"/><Relationship Id="rId6" Type="http://schemas.openxmlformats.org/officeDocument/2006/relationships/image" Target="../media/image-6-6.png"/><Relationship Id="rId7" Type="http://schemas.openxmlformats.org/officeDocument/2006/relationships/image" Target="../media/image-6-7.gif"/><Relationship Id="rId8" Type="http://schemas.openxmlformats.org/officeDocument/2006/relationships/image" Target="../media/image-6-8.png"/><Relationship Id="rId9" Type="http://schemas.openxmlformats.org/officeDocument/2006/relationships/image" Target="../media/image-6-9.gif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gif"/><Relationship Id="rId2" Type="http://schemas.openxmlformats.org/officeDocument/2006/relationships/image" Target="../media/image-7-2.png"/><Relationship Id="rId3" Type="http://schemas.openxmlformats.org/officeDocument/2006/relationships/image" Target="../media/image-7-3.gif"/><Relationship Id="rId4" Type="http://schemas.openxmlformats.org/officeDocument/2006/relationships/image" Target="../media/image-7-4.png"/><Relationship Id="rId5" Type="http://schemas.openxmlformats.org/officeDocument/2006/relationships/image" Target="../media/image-7-5.gif"/><Relationship Id="rId6" Type="http://schemas.openxmlformats.org/officeDocument/2006/relationships/image" Target="../media/image-7-6.png"/><Relationship Id="rId7" Type="http://schemas.openxmlformats.org/officeDocument/2006/relationships/image" Target="../media/image-7-7.gif"/><Relationship Id="rId8" Type="http://schemas.openxmlformats.org/officeDocument/2006/relationships/image" Target="../media/image-7-8.png"/><Relationship Id="rId9" Type="http://schemas.openxmlformats.org/officeDocument/2006/relationships/image" Target="../media/image-7-9.gif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image" Target="../media/image-8-2.png"/><Relationship Id="rId3" Type="http://schemas.openxmlformats.org/officeDocument/2006/relationships/image" Target="../media/image-8-3.gif"/><Relationship Id="rId4" Type="http://schemas.openxmlformats.org/officeDocument/2006/relationships/image" Target="../media/image-8-4.png"/><Relationship Id="rId5" Type="http://schemas.openxmlformats.org/officeDocument/2006/relationships/image" Target="../media/image-8-5.gif"/><Relationship Id="rId6" Type="http://schemas.openxmlformats.org/officeDocument/2006/relationships/image" Target="../media/image-8-6.png"/><Relationship Id="rId7" Type="http://schemas.openxmlformats.org/officeDocument/2006/relationships/image" Target="../media/image-8-7.gif"/><Relationship Id="rId8" Type="http://schemas.openxmlformats.org/officeDocument/2006/relationships/image" Target="../media/image-8-8.png"/><Relationship Id="rId9" Type="http://schemas.openxmlformats.org/officeDocument/2006/relationships/image" Target="../media/image-8-9.gif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gif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74520"/>
            <a:ext cx="12161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0" b="1" spc="800" kern="0" dirty="0">
                <a:solidFill>
                  <a:srgbClr val="E2B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CALIGO</a:t>
            </a:r>
            <a:endParaRPr lang="en-US" sz="7600" dirty="0"/>
          </a:p>
        </p:txBody>
      </p:sp>
      <p:sp>
        <p:nvSpPr>
          <p:cNvPr id="5" name="Text 3"/>
          <p:cNvSpPr/>
          <p:nvPr/>
        </p:nvSpPr>
        <p:spPr>
          <a:xfrm>
            <a:off x="0" y="3063240"/>
            <a:ext cx="1216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spc="400" kern="0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캐릭터 도감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0" y="402336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티어 · 팩션 · 공격력 · 공격 범위 · 스킬 · 패시브 — 전체 30종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2B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개요 · 범례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24128"/>
            <a:ext cx="3840480" cy="45720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5394960" cy="178308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80160"/>
            <a:ext cx="82296" cy="178308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89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팩션 (소속)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1755648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55648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41B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왕실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1755648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왕실 보호·충성 시너지(호위무사 등)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176272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B23A4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7627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악인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2176272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수도승 가호의 표적(악인 특화 효과)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596896"/>
            <a:ext cx="914400" cy="310896"/>
          </a:xfrm>
          <a:prstGeom prst="roundRect">
            <a:avLst>
              <a:gd name="adj" fmla="val 14706"/>
            </a:avLst>
          </a:prstGeom>
          <a:solidFill>
            <a:srgbClr val="5C6B7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96896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2596896"/>
            <a:ext cx="3931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소속 없음 — 패시브 시너지와 무관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5394960" cy="178308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280160"/>
            <a:ext cx="82296" cy="178308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3898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티어 (등급)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92240" y="1755648"/>
            <a:ext cx="310896" cy="310896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75564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49440" y="1755648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티어 1 — 기본 ATK 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92240" y="2176272"/>
            <a:ext cx="310896" cy="310896"/>
          </a:xfrm>
          <a:prstGeom prst="ellipse">
            <a:avLst/>
          </a:prstGeom>
          <a:solidFill>
            <a:srgbClr val="B0B7C3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21762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0" y="2176272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티어 2 — 기본 ATK 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92240" y="2596896"/>
            <a:ext cx="310896" cy="310896"/>
          </a:xfrm>
          <a:prstGeom prst="ellipse">
            <a:avLst/>
          </a:prstGeom>
          <a:solidFill>
            <a:srgbClr val="E2B714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25968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49440" y="2596896"/>
            <a:ext cx="4480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티어 3 — 기본 ATK 3 · 고급 스킬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246120"/>
            <a:ext cx="5394960" cy="141732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246120"/>
            <a:ext cx="82296" cy="141732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3355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 · 스킬 규칙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36576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 지급: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턴 10·20·30·40에만 +1(상한 10) — 매우 희소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 대체: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턴의 이동/공격을 대신 소모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무료(병행): 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이동/공격과 별개로 추가 사용 가능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17920" y="3246120"/>
            <a:ext cx="5394960" cy="310896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3246120"/>
            <a:ext cx="82296" cy="310896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335584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패시브 (자동 효과)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2240" y="3657600"/>
            <a:ext cx="493776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인스턴트매직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피격 시 인스턴트 SP +1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아이언스킨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받는 모든 피해 −0.5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충성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같은 편 왕실 아군이 피격되면 대신 1 피해(왕실 0 피해)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가호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악인 공격 시 피해 3 고정 · 악인에게 피격 시 피해 0.5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배반자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3×3 공격에 아군도 피해(오사)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사기증진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직교 인접 아군이 공격 시 그 피해 +1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표식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공격·피격 시 대상에 표식 부여(악몽 콤보)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폭정 </a:t>
            </a:r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티어1·2 공격자에게 피격 시 피해 −0.5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승리 = 상대 말 3개 전멸 · 패배 = 내 말 3개 전멸   |   덱 = 티어별 1명씩 3유닛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티어 1 캐릭터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5176" y="1234440"/>
            <a:ext cx="2194560" cy="914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8" name="Shape 6"/>
          <p:cNvSpPr/>
          <p:nvPr/>
        </p:nvSpPr>
        <p:spPr>
          <a:xfrm>
            <a:off x="726948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CD7F32"/>
            </a:solidFill>
            <a:prstDash val="solid"/>
          </a:ln>
        </p:spPr>
      </p:sp>
      <p:pic>
        <p:nvPicPr>
          <p:cNvPr id="9" name="Image 0" descr="C:\Users\user\Desktop\board-game\public\art\archer_idle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" y="1545336"/>
            <a:ext cx="1051560" cy="1051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8328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CD7F32"/>
            </a:solidFill>
            <a:prstDash val="solid"/>
          </a:ln>
        </p:spPr>
      </p:sp>
      <p:pic>
        <p:nvPicPr>
          <p:cNvPr id="11" name="Image 1" descr="C:\Users\user\Desktop\board-game\public\assets\icons\arch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264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궁수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75488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5C6B73"/>
          </a:solidFill>
          <a:ln/>
        </p:spPr>
      </p:sp>
      <p:sp>
        <p:nvSpPr>
          <p:cNvPr id="14" name="Text 10"/>
          <p:cNvSpPr/>
          <p:nvPr/>
        </p:nvSpPr>
        <p:spPr>
          <a:xfrm>
            <a:off x="475488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371600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371600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66344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18" name="Text 14"/>
          <p:cNvSpPr/>
          <p:nvPr/>
        </p:nvSpPr>
        <p:spPr>
          <a:xfrm>
            <a:off x="448056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D7F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좌측 대각선 직선 전체(토글 ↘/↙)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48056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정비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1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 좌우 반전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624328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624328" y="1234440"/>
            <a:ext cx="2194560" cy="914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22" name="Shape 18"/>
          <p:cNvSpPr/>
          <p:nvPr/>
        </p:nvSpPr>
        <p:spPr>
          <a:xfrm>
            <a:off x="3086100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CD7F32"/>
            </a:solidFill>
            <a:prstDash val="solid"/>
          </a:ln>
        </p:spPr>
      </p:sp>
      <p:pic>
        <p:nvPicPr>
          <p:cNvPr id="23" name="Image 2" descr="C:\Users\user\Desktop\board-game\public\art\spearman_idle.gif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95828" y="1545336"/>
            <a:ext cx="1051560" cy="10515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697480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CD7F32"/>
            </a:solidFill>
            <a:prstDash val="solid"/>
          </a:ln>
        </p:spPr>
      </p:sp>
      <p:pic>
        <p:nvPicPr>
          <p:cNvPr id="25" name="Image 3" descr="C:\Users\user\Desktop\board-game\public\assets\icons\spearma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42646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715768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창병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2834640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C9A227"/>
          </a:solidFill>
          <a:ln/>
        </p:spPr>
      </p:sp>
      <p:sp>
        <p:nvSpPr>
          <p:cNvPr id="28" name="Text 22"/>
          <p:cNvSpPr/>
          <p:nvPr/>
        </p:nvSpPr>
        <p:spPr>
          <a:xfrm>
            <a:off x="2834640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왕실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3730752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730752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2825496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32" name="Text 26"/>
          <p:cNvSpPr/>
          <p:nvPr/>
        </p:nvSpPr>
        <p:spPr>
          <a:xfrm>
            <a:off x="2807208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D7F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위치한 세로줄 전체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2807208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스킬·패시브 없음 (기본 공격형)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983480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983480" y="1234440"/>
            <a:ext cx="2194560" cy="914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36" name="Shape 30"/>
          <p:cNvSpPr/>
          <p:nvPr/>
        </p:nvSpPr>
        <p:spPr>
          <a:xfrm>
            <a:off x="5445252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CD7F32"/>
            </a:solidFill>
            <a:prstDash val="solid"/>
          </a:ln>
        </p:spPr>
      </p:sp>
      <p:pic>
        <p:nvPicPr>
          <p:cNvPr id="37" name="Image 4" descr="C:\Users\user\Desktop\board-game\public\art\cavalry_idle.gif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554980" y="1545336"/>
            <a:ext cx="1051560" cy="105156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5056632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CD7F32"/>
            </a:solidFill>
            <a:prstDash val="solid"/>
          </a:ln>
        </p:spPr>
      </p:sp>
      <p:pic>
        <p:nvPicPr>
          <p:cNvPr id="39" name="Image 5" descr="C:\Users\user\Desktop\board-game\public\assets\icons\caval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1426464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07492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기마병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5193792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C9A227"/>
          </a:solidFill>
          <a:ln/>
        </p:spPr>
      </p:sp>
      <p:sp>
        <p:nvSpPr>
          <p:cNvPr id="42" name="Text 34"/>
          <p:cNvSpPr/>
          <p:nvPr/>
        </p:nvSpPr>
        <p:spPr>
          <a:xfrm>
            <a:off x="5193792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왕실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6089904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089904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45" name="Shape 37"/>
          <p:cNvSpPr/>
          <p:nvPr/>
        </p:nvSpPr>
        <p:spPr>
          <a:xfrm>
            <a:off x="5184648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46" name="Text 38"/>
          <p:cNvSpPr/>
          <p:nvPr/>
        </p:nvSpPr>
        <p:spPr>
          <a:xfrm>
            <a:off x="5166360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D7F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위치한 가로줄 전체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5166360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스킬·패시브 없음 (기본 공격형)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7342632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7342632" y="1234440"/>
            <a:ext cx="2194560" cy="914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50" name="Shape 42"/>
          <p:cNvSpPr/>
          <p:nvPr/>
        </p:nvSpPr>
        <p:spPr>
          <a:xfrm>
            <a:off x="7804404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CD7F32"/>
            </a:solidFill>
            <a:prstDash val="solid"/>
          </a:ln>
        </p:spPr>
      </p:sp>
      <p:pic>
        <p:nvPicPr>
          <p:cNvPr id="51" name="Image 6" descr="C:\Users\user\Desktop\board-game\public\art\watchman_idle.gif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914132" y="1545336"/>
            <a:ext cx="1051560" cy="1051560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7415784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CD7F32"/>
            </a:solidFill>
            <a:prstDash val="solid"/>
          </a:ln>
        </p:spPr>
      </p:sp>
      <p:pic>
        <p:nvPicPr>
          <p:cNvPr id="53" name="Image 7" descr="C:\Users\user\Desktop\board-game\public\assets\icons\watchman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1504" y="1426464"/>
            <a:ext cx="274320" cy="27432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434072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파수꾼</a:t>
            </a:r>
            <a:endParaRPr lang="en-US" sz="1600" dirty="0"/>
          </a:p>
        </p:txBody>
      </p:sp>
      <p:sp>
        <p:nvSpPr>
          <p:cNvPr id="55" name="Shape 45"/>
          <p:cNvSpPr/>
          <p:nvPr/>
        </p:nvSpPr>
        <p:spPr>
          <a:xfrm>
            <a:off x="7552944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5C6B73"/>
          </a:solidFill>
          <a:ln/>
        </p:spPr>
      </p:sp>
      <p:sp>
        <p:nvSpPr>
          <p:cNvPr id="56" name="Text 46"/>
          <p:cNvSpPr/>
          <p:nvPr/>
        </p:nvSpPr>
        <p:spPr>
          <a:xfrm>
            <a:off x="7552944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</a:t>
            </a:r>
            <a:endParaRPr lang="en-US" sz="1150" dirty="0"/>
          </a:p>
        </p:txBody>
      </p:sp>
      <p:sp>
        <p:nvSpPr>
          <p:cNvPr id="57" name="Shape 47"/>
          <p:cNvSpPr/>
          <p:nvPr/>
        </p:nvSpPr>
        <p:spPr>
          <a:xfrm>
            <a:off x="8449056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8449056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0.5</a:t>
            </a:r>
            <a:endParaRPr lang="en-US" sz="1150" dirty="0"/>
          </a:p>
        </p:txBody>
      </p:sp>
      <p:sp>
        <p:nvSpPr>
          <p:cNvPr id="59" name="Shape 49"/>
          <p:cNvSpPr/>
          <p:nvPr/>
        </p:nvSpPr>
        <p:spPr>
          <a:xfrm>
            <a:off x="7543800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60" name="Text 50"/>
          <p:cNvSpPr/>
          <p:nvPr/>
        </p:nvSpPr>
        <p:spPr>
          <a:xfrm>
            <a:off x="7525512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D7F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8칸(자기 제외)</a:t>
            </a:r>
            <a:endParaRPr lang="en-US" sz="1100" dirty="0"/>
          </a:p>
        </p:txBody>
      </p:sp>
      <p:sp>
        <p:nvSpPr>
          <p:cNvPr id="61" name="Text 51"/>
          <p:cNvSpPr/>
          <p:nvPr/>
        </p:nvSpPr>
        <p:spPr>
          <a:xfrm>
            <a:off x="7525512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스킬·패시브 없음 (기본 공격형)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9701784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63" name="Shape 53"/>
          <p:cNvSpPr/>
          <p:nvPr/>
        </p:nvSpPr>
        <p:spPr>
          <a:xfrm>
            <a:off x="9701784" y="1234440"/>
            <a:ext cx="2194560" cy="914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64" name="Shape 54"/>
          <p:cNvSpPr/>
          <p:nvPr/>
        </p:nvSpPr>
        <p:spPr>
          <a:xfrm>
            <a:off x="10163556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CD7F32"/>
            </a:solidFill>
            <a:prstDash val="solid"/>
          </a:ln>
        </p:spPr>
      </p:sp>
      <p:pic>
        <p:nvPicPr>
          <p:cNvPr id="65" name="Image 8" descr="C:\Users\user\Desktop\board-game\public\art\twins_red_idle.gif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177272" y="1769364"/>
            <a:ext cx="603504" cy="603504"/>
          </a:xfrm>
          <a:prstGeom prst="rect">
            <a:avLst/>
          </a:prstGeom>
        </p:spPr>
      </p:pic>
      <p:pic>
        <p:nvPicPr>
          <p:cNvPr id="66" name="Image 9" descr="C:\Users\user\Desktop\board-game\public\art\twins_blue_idle.gif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0817352" y="1769364"/>
            <a:ext cx="603504" cy="603504"/>
          </a:xfrm>
          <a:prstGeom prst="rect">
            <a:avLst/>
          </a:prstGeom>
        </p:spPr>
      </p:pic>
      <p:sp>
        <p:nvSpPr>
          <p:cNvPr id="67" name="Shape 55"/>
          <p:cNvSpPr/>
          <p:nvPr/>
        </p:nvSpPr>
        <p:spPr>
          <a:xfrm>
            <a:off x="9774936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CD7F32"/>
            </a:solidFill>
            <a:prstDash val="solid"/>
          </a:ln>
        </p:spPr>
      </p:sp>
      <p:pic>
        <p:nvPicPr>
          <p:cNvPr id="68" name="Image 10" descr="C:\Users\user\Desktop\board-game\public\assets\icons\twins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20656" y="1426464"/>
            <a:ext cx="274320" cy="274320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9793224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쌍둥이 강도</a:t>
            </a:r>
            <a:endParaRPr lang="en-US" sz="1600" dirty="0"/>
          </a:p>
        </p:txBody>
      </p:sp>
      <p:sp>
        <p:nvSpPr>
          <p:cNvPr id="70" name="Shape 57"/>
          <p:cNvSpPr/>
          <p:nvPr/>
        </p:nvSpPr>
        <p:spPr>
          <a:xfrm>
            <a:off x="9912096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B23A48"/>
          </a:solidFill>
          <a:ln/>
        </p:spPr>
      </p:sp>
      <p:sp>
        <p:nvSpPr>
          <p:cNvPr id="71" name="Text 58"/>
          <p:cNvSpPr/>
          <p:nvPr/>
        </p:nvSpPr>
        <p:spPr>
          <a:xfrm>
            <a:off x="9912096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악인</a:t>
            </a:r>
            <a:endParaRPr lang="en-US" sz="1150" dirty="0"/>
          </a:p>
        </p:txBody>
      </p:sp>
      <p:sp>
        <p:nvSpPr>
          <p:cNvPr id="72" name="Shape 59"/>
          <p:cNvSpPr/>
          <p:nvPr/>
        </p:nvSpPr>
        <p:spPr>
          <a:xfrm>
            <a:off x="10808208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73" name="Text 60"/>
          <p:cNvSpPr/>
          <p:nvPr/>
        </p:nvSpPr>
        <p:spPr>
          <a:xfrm>
            <a:off x="10808208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74" name="Shape 61"/>
          <p:cNvSpPr/>
          <p:nvPr/>
        </p:nvSpPr>
        <p:spPr>
          <a:xfrm>
            <a:off x="9902952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75" name="Text 62"/>
          <p:cNvSpPr/>
          <p:nvPr/>
        </p:nvSpPr>
        <p:spPr>
          <a:xfrm>
            <a:off x="9884664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D7F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누나 가로3 / 동생 세로3</a:t>
            </a:r>
            <a:endParaRPr lang="en-US" sz="1100" dirty="0"/>
          </a:p>
        </p:txBody>
      </p:sp>
      <p:sp>
        <p:nvSpPr>
          <p:cNvPr id="76" name="Text 63"/>
          <p:cNvSpPr/>
          <p:nvPr/>
        </p:nvSpPr>
        <p:spPr>
          <a:xfrm>
            <a:off x="9884664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분신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2 · 행동대체)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누나↔동생 위치로 합류(한 칸에 합체)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CD7F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티어 1 캐릭터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5176" y="1234440"/>
            <a:ext cx="2194560" cy="914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8" name="Shape 6"/>
          <p:cNvSpPr/>
          <p:nvPr/>
        </p:nvSpPr>
        <p:spPr>
          <a:xfrm>
            <a:off x="726948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CD7F32"/>
            </a:solidFill>
            <a:prstDash val="solid"/>
          </a:ln>
        </p:spPr>
      </p:sp>
      <p:pic>
        <p:nvPicPr>
          <p:cNvPr id="9" name="Image 0" descr="C:\Users\user\Desktop\board-game\public\art\scout_idle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" y="1545336"/>
            <a:ext cx="1051560" cy="1051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8328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CD7F32"/>
            </a:solidFill>
            <a:prstDash val="solid"/>
          </a:ln>
        </p:spPr>
      </p:sp>
      <p:pic>
        <p:nvPicPr>
          <p:cNvPr id="11" name="Image 1" descr="C:\Users\user\Desktop\board-game\public\assets\icons\sco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264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척후병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75488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475488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왕실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371600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371600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66344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18" name="Text 14"/>
          <p:cNvSpPr/>
          <p:nvPr/>
        </p:nvSpPr>
        <p:spPr>
          <a:xfrm>
            <a:off x="448056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D7F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 포함 가로 3칸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48056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정찰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2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랜덤 적 1명의 행 또는 열 공개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624328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624328" y="1234440"/>
            <a:ext cx="2194560" cy="914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22" name="Shape 18"/>
          <p:cNvSpPr/>
          <p:nvPr/>
        </p:nvSpPr>
        <p:spPr>
          <a:xfrm>
            <a:off x="3086100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CD7F32"/>
            </a:solidFill>
            <a:prstDash val="solid"/>
          </a:ln>
        </p:spPr>
      </p:sp>
      <p:pic>
        <p:nvPicPr>
          <p:cNvPr id="23" name="Image 2" descr="C:\Users\user\Desktop\board-game\public\art\manhunter_idle.gif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95828" y="1545336"/>
            <a:ext cx="1051560" cy="10515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697480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CD7F32"/>
            </a:solidFill>
            <a:prstDash val="solid"/>
          </a:ln>
        </p:spPr>
      </p:sp>
      <p:pic>
        <p:nvPicPr>
          <p:cNvPr id="25" name="Image 3" descr="C:\Users\user\Desktop\board-game\public\assets\icons\manhun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42646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715768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인간 사냥꾼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2834640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B23A48"/>
          </a:solidFill>
          <a:ln/>
        </p:spPr>
      </p:sp>
      <p:sp>
        <p:nvSpPr>
          <p:cNvPr id="28" name="Text 22"/>
          <p:cNvSpPr/>
          <p:nvPr/>
        </p:nvSpPr>
        <p:spPr>
          <a:xfrm>
            <a:off x="2834640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악인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3730752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730752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2825496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32" name="Text 26"/>
          <p:cNvSpPr/>
          <p:nvPr/>
        </p:nvSpPr>
        <p:spPr>
          <a:xfrm>
            <a:off x="2807208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D7F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 포함 세로 3칸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2807208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덫 설치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2 · 행동대체)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 위치에 덫 설치 · 작동 시 2 피해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983480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983480" y="1234440"/>
            <a:ext cx="2194560" cy="914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36" name="Shape 30"/>
          <p:cNvSpPr/>
          <p:nvPr/>
        </p:nvSpPr>
        <p:spPr>
          <a:xfrm>
            <a:off x="5445252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CD7F32"/>
            </a:solidFill>
            <a:prstDash val="solid"/>
          </a:ln>
        </p:spPr>
      </p:sp>
      <p:pic>
        <p:nvPicPr>
          <p:cNvPr id="37" name="Image 4" descr="C:\Users\user\Desktop\board-game\public\art\messenger_idle.gif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554980" y="1545336"/>
            <a:ext cx="1051560" cy="105156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5056632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CD7F32"/>
            </a:solidFill>
            <a:prstDash val="solid"/>
          </a:ln>
        </p:spPr>
      </p:sp>
      <p:pic>
        <p:nvPicPr>
          <p:cNvPr id="39" name="Image 5" descr="C:\Users\user\Desktop\board-game\public\assets\icons\messeng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1426464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07492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전령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5193792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5C6B73"/>
          </a:solidFill>
          <a:ln/>
        </p:spPr>
      </p:sp>
      <p:sp>
        <p:nvSpPr>
          <p:cNvPr id="42" name="Text 34"/>
          <p:cNvSpPr/>
          <p:nvPr/>
        </p:nvSpPr>
        <p:spPr>
          <a:xfrm>
            <a:off x="5193792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6089904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089904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0.5</a:t>
            </a:r>
            <a:endParaRPr lang="en-US" sz="1150" dirty="0"/>
          </a:p>
        </p:txBody>
      </p:sp>
      <p:sp>
        <p:nvSpPr>
          <p:cNvPr id="45" name="Shape 37"/>
          <p:cNvSpPr/>
          <p:nvPr/>
        </p:nvSpPr>
        <p:spPr>
          <a:xfrm>
            <a:off x="5184648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46" name="Text 38"/>
          <p:cNvSpPr/>
          <p:nvPr/>
        </p:nvSpPr>
        <p:spPr>
          <a:xfrm>
            <a:off x="5166360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D7F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 포함 X대각선 5칸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5166360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질주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1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턴 이동 2회 실행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7342632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7342632" y="1234440"/>
            <a:ext cx="2194560" cy="914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50" name="Shape 42"/>
          <p:cNvSpPr/>
          <p:nvPr/>
        </p:nvSpPr>
        <p:spPr>
          <a:xfrm>
            <a:off x="7804404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CD7F32"/>
            </a:solidFill>
            <a:prstDash val="solid"/>
          </a:ln>
        </p:spPr>
      </p:sp>
      <p:pic>
        <p:nvPicPr>
          <p:cNvPr id="51" name="Image 6" descr="C:\Users\user\Desktop\board-game\public\art\gunpowder_idle.gif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914132" y="1545336"/>
            <a:ext cx="1051560" cy="1051560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7415784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CD7F32"/>
            </a:solidFill>
            <a:prstDash val="solid"/>
          </a:ln>
        </p:spPr>
      </p:sp>
      <p:pic>
        <p:nvPicPr>
          <p:cNvPr id="53" name="Image 7" descr="C:\Users\user\Desktop\board-game\public\assets\icons\gunpowd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1504" y="1426464"/>
            <a:ext cx="274320" cy="27432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434072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화약상</a:t>
            </a:r>
            <a:endParaRPr lang="en-US" sz="1600" dirty="0"/>
          </a:p>
        </p:txBody>
      </p:sp>
      <p:sp>
        <p:nvSpPr>
          <p:cNvPr id="55" name="Shape 45"/>
          <p:cNvSpPr/>
          <p:nvPr/>
        </p:nvSpPr>
        <p:spPr>
          <a:xfrm>
            <a:off x="7552944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5C6B73"/>
          </a:solidFill>
          <a:ln/>
        </p:spPr>
      </p:sp>
      <p:sp>
        <p:nvSpPr>
          <p:cNvPr id="56" name="Text 46"/>
          <p:cNvSpPr/>
          <p:nvPr/>
        </p:nvSpPr>
        <p:spPr>
          <a:xfrm>
            <a:off x="7552944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</a:t>
            </a:r>
            <a:endParaRPr lang="en-US" sz="1150" dirty="0"/>
          </a:p>
        </p:txBody>
      </p:sp>
      <p:sp>
        <p:nvSpPr>
          <p:cNvPr id="57" name="Shape 47"/>
          <p:cNvSpPr/>
          <p:nvPr/>
        </p:nvSpPr>
        <p:spPr>
          <a:xfrm>
            <a:off x="8449056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8449056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59" name="Shape 49"/>
          <p:cNvSpPr/>
          <p:nvPr/>
        </p:nvSpPr>
        <p:spPr>
          <a:xfrm>
            <a:off x="7543800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60" name="Text 50"/>
          <p:cNvSpPr/>
          <p:nvPr/>
        </p:nvSpPr>
        <p:spPr>
          <a:xfrm>
            <a:off x="7525512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D7F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상하 각 2칸(자기 제외) · 세로 4칸</a:t>
            </a:r>
            <a:endParaRPr lang="en-US" sz="1100" dirty="0"/>
          </a:p>
        </p:txBody>
      </p:sp>
      <p:sp>
        <p:nvSpPr>
          <p:cNvPr id="61" name="Text 51"/>
          <p:cNvSpPr/>
          <p:nvPr/>
        </p:nvSpPr>
        <p:spPr>
          <a:xfrm>
            <a:off x="7525512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폭탄 설치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2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8칸 중 한 곳에 폭탄 설치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기폭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0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설치된 폭탄 전부 폭발 · 1 피해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9701784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63" name="Shape 53"/>
          <p:cNvSpPr/>
          <p:nvPr/>
        </p:nvSpPr>
        <p:spPr>
          <a:xfrm>
            <a:off x="9701784" y="1234440"/>
            <a:ext cx="2194560" cy="91440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64" name="Shape 54"/>
          <p:cNvSpPr/>
          <p:nvPr/>
        </p:nvSpPr>
        <p:spPr>
          <a:xfrm>
            <a:off x="10163556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CD7F32"/>
            </a:solidFill>
            <a:prstDash val="solid"/>
          </a:ln>
        </p:spPr>
      </p:sp>
      <p:pic>
        <p:nvPicPr>
          <p:cNvPr id="65" name="Image 8" descr="C:\Users\user\Desktop\board-game\public\art\herbalist_idle.gif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273284" y="1545336"/>
            <a:ext cx="1051560" cy="1051560"/>
          </a:xfrm>
          <a:prstGeom prst="rect">
            <a:avLst/>
          </a:prstGeom>
        </p:spPr>
      </p:pic>
      <p:sp>
        <p:nvSpPr>
          <p:cNvPr id="66" name="Shape 55"/>
          <p:cNvSpPr/>
          <p:nvPr/>
        </p:nvSpPr>
        <p:spPr>
          <a:xfrm>
            <a:off x="9774936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CD7F32"/>
            </a:solidFill>
            <a:prstDash val="solid"/>
          </a:ln>
        </p:spPr>
      </p:sp>
      <p:pic>
        <p:nvPicPr>
          <p:cNvPr id="67" name="Image 9" descr="C:\Users\user\Desktop\board-game\public\assets\icons\herbalis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0656" y="1426464"/>
            <a:ext cx="274320" cy="274320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9793224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약초전문가</a:t>
            </a:r>
            <a:endParaRPr lang="en-US" sz="1600" dirty="0"/>
          </a:p>
        </p:txBody>
      </p:sp>
      <p:sp>
        <p:nvSpPr>
          <p:cNvPr id="69" name="Shape 57"/>
          <p:cNvSpPr/>
          <p:nvPr/>
        </p:nvSpPr>
        <p:spPr>
          <a:xfrm>
            <a:off x="9912096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5C6B73"/>
          </a:solidFill>
          <a:ln/>
        </p:spPr>
      </p:sp>
      <p:sp>
        <p:nvSpPr>
          <p:cNvPr id="70" name="Text 58"/>
          <p:cNvSpPr/>
          <p:nvPr/>
        </p:nvSpPr>
        <p:spPr>
          <a:xfrm>
            <a:off x="9912096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</a:t>
            </a:r>
            <a:endParaRPr lang="en-US" sz="1150" dirty="0"/>
          </a:p>
        </p:txBody>
      </p:sp>
      <p:sp>
        <p:nvSpPr>
          <p:cNvPr id="71" name="Shape 59"/>
          <p:cNvSpPr/>
          <p:nvPr/>
        </p:nvSpPr>
        <p:spPr>
          <a:xfrm>
            <a:off x="10808208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72" name="Text 60"/>
          <p:cNvSpPr/>
          <p:nvPr/>
        </p:nvSpPr>
        <p:spPr>
          <a:xfrm>
            <a:off x="10808208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73" name="Shape 61"/>
          <p:cNvSpPr/>
          <p:nvPr/>
        </p:nvSpPr>
        <p:spPr>
          <a:xfrm>
            <a:off x="9902952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74" name="Text 62"/>
          <p:cNvSpPr/>
          <p:nvPr/>
        </p:nvSpPr>
        <p:spPr>
          <a:xfrm>
            <a:off x="9884664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CD7F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좌우 각 2칸(자기 제외) · 가로 4칸</a:t>
            </a:r>
            <a:endParaRPr lang="en-US" sz="1100" dirty="0"/>
          </a:p>
        </p:txBody>
      </p:sp>
      <p:sp>
        <p:nvSpPr>
          <p:cNvPr id="75" name="Text 63"/>
          <p:cNvSpPr/>
          <p:nvPr/>
        </p:nvSpPr>
        <p:spPr>
          <a:xfrm>
            <a:off x="9884664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약초학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2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 제외 주변 모든 아군 체력 1 회복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B0B7C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티어 2 캐릭터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5176" y="1234440"/>
            <a:ext cx="2194560" cy="91440"/>
          </a:xfrm>
          <a:prstGeom prst="rect">
            <a:avLst/>
          </a:prstGeom>
          <a:solidFill>
            <a:srgbClr val="B0B7C3"/>
          </a:solidFill>
          <a:ln/>
        </p:spPr>
      </p:sp>
      <p:sp>
        <p:nvSpPr>
          <p:cNvPr id="8" name="Shape 6"/>
          <p:cNvSpPr/>
          <p:nvPr/>
        </p:nvSpPr>
        <p:spPr>
          <a:xfrm>
            <a:off x="726948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B0B7C3"/>
            </a:solidFill>
            <a:prstDash val="solid"/>
          </a:ln>
        </p:spPr>
      </p:sp>
      <p:pic>
        <p:nvPicPr>
          <p:cNvPr id="9" name="Image 0" descr="C:\Users\user\Desktop\board-game\public\art\general_idle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" y="1545336"/>
            <a:ext cx="1051560" cy="1051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8328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B0B7C3"/>
            </a:solidFill>
            <a:prstDash val="solid"/>
          </a:ln>
        </p:spPr>
      </p:sp>
      <p:pic>
        <p:nvPicPr>
          <p:cNvPr id="11" name="Image 1" descr="C:\Users\user\Desktop\board-game\public\assets\icons\gener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264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장군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75488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475488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왕실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371600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371600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2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66344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18" name="Text 14"/>
          <p:cNvSpPr/>
          <p:nvPr/>
        </p:nvSpPr>
        <p:spPr>
          <a:xfrm>
            <a:off x="448056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0B7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 포함 십자(상하좌우) 5칸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48056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스킬·패시브 없음 (기본 공격형)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624328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624328" y="1234440"/>
            <a:ext cx="2194560" cy="91440"/>
          </a:xfrm>
          <a:prstGeom prst="rect">
            <a:avLst/>
          </a:prstGeom>
          <a:solidFill>
            <a:srgbClr val="B0B7C3"/>
          </a:solidFill>
          <a:ln/>
        </p:spPr>
      </p:sp>
      <p:sp>
        <p:nvSpPr>
          <p:cNvPr id="22" name="Shape 18"/>
          <p:cNvSpPr/>
          <p:nvPr/>
        </p:nvSpPr>
        <p:spPr>
          <a:xfrm>
            <a:off x="3086100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B0B7C3"/>
            </a:solidFill>
            <a:prstDash val="solid"/>
          </a:ln>
        </p:spPr>
      </p:sp>
      <p:pic>
        <p:nvPicPr>
          <p:cNvPr id="23" name="Image 2" descr="C:\Users\user\Desktop\board-game\public\art\knight_idle.gif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95828" y="1545336"/>
            <a:ext cx="1051560" cy="10515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697480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B0B7C3"/>
            </a:solidFill>
            <a:prstDash val="solid"/>
          </a:ln>
        </p:spPr>
      </p:sp>
      <p:pic>
        <p:nvPicPr>
          <p:cNvPr id="25" name="Image 3" descr="C:\Users\user\Desktop\board-game\public\assets\icons\knigh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42646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715768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기사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2834640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C9A227"/>
          </a:solidFill>
          <a:ln/>
        </p:spPr>
      </p:sp>
      <p:sp>
        <p:nvSpPr>
          <p:cNvPr id="28" name="Text 22"/>
          <p:cNvSpPr/>
          <p:nvPr/>
        </p:nvSpPr>
        <p:spPr>
          <a:xfrm>
            <a:off x="2834640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왕실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3730752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730752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2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2825496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32" name="Text 26"/>
          <p:cNvSpPr/>
          <p:nvPr/>
        </p:nvSpPr>
        <p:spPr>
          <a:xfrm>
            <a:off x="2807208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0B7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 포함 X대각선 5칸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2807208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스킬·패시브 없음 (기본 공격형)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983480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983480" y="1234440"/>
            <a:ext cx="2194560" cy="91440"/>
          </a:xfrm>
          <a:prstGeom prst="rect">
            <a:avLst/>
          </a:prstGeom>
          <a:solidFill>
            <a:srgbClr val="B0B7C3"/>
          </a:solidFill>
          <a:ln/>
        </p:spPr>
      </p:sp>
      <p:sp>
        <p:nvSpPr>
          <p:cNvPr id="36" name="Shape 30"/>
          <p:cNvSpPr/>
          <p:nvPr/>
        </p:nvSpPr>
        <p:spPr>
          <a:xfrm>
            <a:off x="5445252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B0B7C3"/>
            </a:solidFill>
            <a:prstDash val="solid"/>
          </a:ln>
        </p:spPr>
      </p:sp>
      <p:pic>
        <p:nvPicPr>
          <p:cNvPr id="37" name="Image 4" descr="C:\Users\user\Desktop\board-game\public\art\shadowAssassin_idle.gif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554980" y="1545336"/>
            <a:ext cx="1051560" cy="105156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5056632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B0B7C3"/>
            </a:solidFill>
            <a:prstDash val="solid"/>
          </a:ln>
        </p:spPr>
      </p:sp>
      <p:pic>
        <p:nvPicPr>
          <p:cNvPr id="39" name="Image 5" descr="C:\Users\user\Desktop\board-game\public\assets\icons\shadowAssassi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1426464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07492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그림자 암살자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5193792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B23A48"/>
          </a:solidFill>
          <a:ln/>
        </p:spPr>
      </p:sp>
      <p:sp>
        <p:nvSpPr>
          <p:cNvPr id="42" name="Text 34"/>
          <p:cNvSpPr/>
          <p:nvPr/>
        </p:nvSpPr>
        <p:spPr>
          <a:xfrm>
            <a:off x="5193792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악인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6089904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089904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2</a:t>
            </a:r>
            <a:endParaRPr lang="en-US" sz="1150" dirty="0"/>
          </a:p>
        </p:txBody>
      </p:sp>
      <p:sp>
        <p:nvSpPr>
          <p:cNvPr id="45" name="Shape 37"/>
          <p:cNvSpPr/>
          <p:nvPr/>
        </p:nvSpPr>
        <p:spPr>
          <a:xfrm>
            <a:off x="5184648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46" name="Text 38"/>
          <p:cNvSpPr/>
          <p:nvPr/>
        </p:nvSpPr>
        <p:spPr>
          <a:xfrm>
            <a:off x="5166360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0B7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3×3 중 1칸 선택 타격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5166360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그림자 숨기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1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턴까지 공격·상태이상 면역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7342632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7342632" y="1234440"/>
            <a:ext cx="2194560" cy="91440"/>
          </a:xfrm>
          <a:prstGeom prst="rect">
            <a:avLst/>
          </a:prstGeom>
          <a:solidFill>
            <a:srgbClr val="B0B7C3"/>
          </a:solidFill>
          <a:ln/>
        </p:spPr>
      </p:sp>
      <p:sp>
        <p:nvSpPr>
          <p:cNvPr id="50" name="Shape 42"/>
          <p:cNvSpPr/>
          <p:nvPr/>
        </p:nvSpPr>
        <p:spPr>
          <a:xfrm>
            <a:off x="7804404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B0B7C3"/>
            </a:solidFill>
            <a:prstDash val="solid"/>
          </a:ln>
        </p:spPr>
      </p:sp>
      <p:pic>
        <p:nvPicPr>
          <p:cNvPr id="51" name="Image 6" descr="C:\Users\user\Desktop\board-game\public\art\wizard_idle.gif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914132" y="1545336"/>
            <a:ext cx="1051560" cy="1051560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7415784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B0B7C3"/>
            </a:solidFill>
            <a:prstDash val="solid"/>
          </a:ln>
        </p:spPr>
      </p:sp>
      <p:pic>
        <p:nvPicPr>
          <p:cNvPr id="53" name="Image 7" descr="C:\Users\user\Desktop\board-game\public\assets\icons\wizar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1504" y="1426464"/>
            <a:ext cx="274320" cy="27432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434072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마법사</a:t>
            </a:r>
            <a:endParaRPr lang="en-US" sz="1600" dirty="0"/>
          </a:p>
        </p:txBody>
      </p:sp>
      <p:sp>
        <p:nvSpPr>
          <p:cNvPr id="55" name="Shape 45"/>
          <p:cNvSpPr/>
          <p:nvPr/>
        </p:nvSpPr>
        <p:spPr>
          <a:xfrm>
            <a:off x="7552944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5C6B73"/>
          </a:solidFill>
          <a:ln/>
        </p:spPr>
      </p:sp>
      <p:sp>
        <p:nvSpPr>
          <p:cNvPr id="56" name="Text 46"/>
          <p:cNvSpPr/>
          <p:nvPr/>
        </p:nvSpPr>
        <p:spPr>
          <a:xfrm>
            <a:off x="7552944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</a:t>
            </a:r>
            <a:endParaRPr lang="en-US" sz="1150" dirty="0"/>
          </a:p>
        </p:txBody>
      </p:sp>
      <p:sp>
        <p:nvSpPr>
          <p:cNvPr id="57" name="Shape 47"/>
          <p:cNvSpPr/>
          <p:nvPr/>
        </p:nvSpPr>
        <p:spPr>
          <a:xfrm>
            <a:off x="8449056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8449056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2</a:t>
            </a:r>
            <a:endParaRPr lang="en-US" sz="1150" dirty="0"/>
          </a:p>
        </p:txBody>
      </p:sp>
      <p:sp>
        <p:nvSpPr>
          <p:cNvPr id="59" name="Shape 49"/>
          <p:cNvSpPr/>
          <p:nvPr/>
        </p:nvSpPr>
        <p:spPr>
          <a:xfrm>
            <a:off x="7543800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60" name="Text 50"/>
          <p:cNvSpPr/>
          <p:nvPr/>
        </p:nvSpPr>
        <p:spPr>
          <a:xfrm>
            <a:off x="7525512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0B7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칸 건너뛴 십자 4칸(거리 2)</a:t>
            </a:r>
            <a:endParaRPr lang="en-US" sz="1100" dirty="0"/>
          </a:p>
        </p:txBody>
      </p:sp>
      <p:sp>
        <p:nvSpPr>
          <p:cNvPr id="61" name="Text 51"/>
          <p:cNvSpPr/>
          <p:nvPr/>
        </p:nvSpPr>
        <p:spPr>
          <a:xfrm>
            <a:off x="7525512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B3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패시브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인스턴트매직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피격 시 인스턴트 SP +1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9701784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63" name="Shape 53"/>
          <p:cNvSpPr/>
          <p:nvPr/>
        </p:nvSpPr>
        <p:spPr>
          <a:xfrm>
            <a:off x="9701784" y="1234440"/>
            <a:ext cx="2194560" cy="91440"/>
          </a:xfrm>
          <a:prstGeom prst="rect">
            <a:avLst/>
          </a:prstGeom>
          <a:solidFill>
            <a:srgbClr val="B0B7C3"/>
          </a:solidFill>
          <a:ln/>
        </p:spPr>
      </p:sp>
      <p:sp>
        <p:nvSpPr>
          <p:cNvPr id="64" name="Shape 54"/>
          <p:cNvSpPr/>
          <p:nvPr/>
        </p:nvSpPr>
        <p:spPr>
          <a:xfrm>
            <a:off x="10163556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B0B7C3"/>
            </a:solidFill>
            <a:prstDash val="solid"/>
          </a:ln>
        </p:spPr>
      </p:sp>
      <p:pic>
        <p:nvPicPr>
          <p:cNvPr id="65" name="Image 8" descr="C:\Users\user\Desktop\board-game\public\art\armoredWarrior_idle.gif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273284" y="1545336"/>
            <a:ext cx="1051560" cy="1051560"/>
          </a:xfrm>
          <a:prstGeom prst="rect">
            <a:avLst/>
          </a:prstGeom>
        </p:spPr>
      </p:pic>
      <p:sp>
        <p:nvSpPr>
          <p:cNvPr id="66" name="Shape 55"/>
          <p:cNvSpPr/>
          <p:nvPr/>
        </p:nvSpPr>
        <p:spPr>
          <a:xfrm>
            <a:off x="9774936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B0B7C3"/>
            </a:solidFill>
            <a:prstDash val="solid"/>
          </a:ln>
        </p:spPr>
      </p:sp>
      <p:pic>
        <p:nvPicPr>
          <p:cNvPr id="67" name="Image 9" descr="C:\Users\user\Desktop\board-game\public\assets\icons\armoredWarrior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0656" y="1426464"/>
            <a:ext cx="274320" cy="274320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9793224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갑주무사</a:t>
            </a:r>
            <a:endParaRPr lang="en-US" sz="1600" dirty="0"/>
          </a:p>
        </p:txBody>
      </p:sp>
      <p:sp>
        <p:nvSpPr>
          <p:cNvPr id="69" name="Shape 57"/>
          <p:cNvSpPr/>
          <p:nvPr/>
        </p:nvSpPr>
        <p:spPr>
          <a:xfrm>
            <a:off x="9912096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5C6B73"/>
          </a:solidFill>
          <a:ln/>
        </p:spPr>
      </p:sp>
      <p:sp>
        <p:nvSpPr>
          <p:cNvPr id="70" name="Text 58"/>
          <p:cNvSpPr/>
          <p:nvPr/>
        </p:nvSpPr>
        <p:spPr>
          <a:xfrm>
            <a:off x="9912096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</a:t>
            </a:r>
            <a:endParaRPr lang="en-US" sz="1150" dirty="0"/>
          </a:p>
        </p:txBody>
      </p:sp>
      <p:sp>
        <p:nvSpPr>
          <p:cNvPr id="71" name="Shape 59"/>
          <p:cNvSpPr/>
          <p:nvPr/>
        </p:nvSpPr>
        <p:spPr>
          <a:xfrm>
            <a:off x="10808208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72" name="Text 60"/>
          <p:cNvSpPr/>
          <p:nvPr/>
        </p:nvSpPr>
        <p:spPr>
          <a:xfrm>
            <a:off x="10808208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2</a:t>
            </a:r>
            <a:endParaRPr lang="en-US" sz="1150" dirty="0"/>
          </a:p>
        </p:txBody>
      </p:sp>
      <p:sp>
        <p:nvSpPr>
          <p:cNvPr id="73" name="Shape 61"/>
          <p:cNvSpPr/>
          <p:nvPr/>
        </p:nvSpPr>
        <p:spPr>
          <a:xfrm>
            <a:off x="9902952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74" name="Text 62"/>
          <p:cNvSpPr/>
          <p:nvPr/>
        </p:nvSpPr>
        <p:spPr>
          <a:xfrm>
            <a:off x="9884664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0B7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 + 아랫줄 가로 3칸(총 4칸)</a:t>
            </a:r>
            <a:endParaRPr lang="en-US" sz="1100" dirty="0"/>
          </a:p>
        </p:txBody>
      </p:sp>
      <p:sp>
        <p:nvSpPr>
          <p:cNvPr id="75" name="Text 63"/>
          <p:cNvSpPr/>
          <p:nvPr/>
        </p:nvSpPr>
        <p:spPr>
          <a:xfrm>
            <a:off x="9884664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B3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패시브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아이언스킨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받는 모든 피해 −0.5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B0B7C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티어 2 캐릭터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5176" y="1234440"/>
            <a:ext cx="2194560" cy="91440"/>
          </a:xfrm>
          <a:prstGeom prst="rect">
            <a:avLst/>
          </a:prstGeom>
          <a:solidFill>
            <a:srgbClr val="B0B7C3"/>
          </a:solidFill>
          <a:ln/>
        </p:spPr>
      </p:sp>
      <p:sp>
        <p:nvSpPr>
          <p:cNvPr id="8" name="Shape 6"/>
          <p:cNvSpPr/>
          <p:nvPr/>
        </p:nvSpPr>
        <p:spPr>
          <a:xfrm>
            <a:off x="726948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B0B7C3"/>
            </a:solidFill>
            <a:prstDash val="solid"/>
          </a:ln>
        </p:spPr>
      </p:sp>
      <p:pic>
        <p:nvPicPr>
          <p:cNvPr id="9" name="Image 0" descr="C:\Users\user\Desktop\board-game\public\art\witch_idle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" y="1545336"/>
            <a:ext cx="1051560" cy="1051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8328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B0B7C3"/>
            </a:solidFill>
            <a:prstDash val="solid"/>
          </a:ln>
        </p:spPr>
      </p:sp>
      <p:pic>
        <p:nvPicPr>
          <p:cNvPr id="11" name="Image 1" descr="C:\Users\user\Desktop\board-game\public\assets\icons\wi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264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마녀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75488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B23A48"/>
          </a:solidFill>
          <a:ln/>
        </p:spPr>
      </p:sp>
      <p:sp>
        <p:nvSpPr>
          <p:cNvPr id="14" name="Text 10"/>
          <p:cNvSpPr/>
          <p:nvPr/>
        </p:nvSpPr>
        <p:spPr>
          <a:xfrm>
            <a:off x="475488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악인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371600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371600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66344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18" name="Text 14"/>
          <p:cNvSpPr/>
          <p:nvPr/>
        </p:nvSpPr>
        <p:spPr>
          <a:xfrm>
            <a:off x="448056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0B7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보드 중 1칸 선택 원거리 타격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48056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저주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3 · 행동대체)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1명에게 저주 부여(지속 0.5 피해)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624328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624328" y="1234440"/>
            <a:ext cx="2194560" cy="91440"/>
          </a:xfrm>
          <a:prstGeom prst="rect">
            <a:avLst/>
          </a:prstGeom>
          <a:solidFill>
            <a:srgbClr val="B0B7C3"/>
          </a:solidFill>
          <a:ln/>
        </p:spPr>
      </p:sp>
      <p:sp>
        <p:nvSpPr>
          <p:cNvPr id="22" name="Shape 18"/>
          <p:cNvSpPr/>
          <p:nvPr/>
        </p:nvSpPr>
        <p:spPr>
          <a:xfrm>
            <a:off x="3086100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B0B7C3"/>
            </a:solidFill>
            <a:prstDash val="solid"/>
          </a:ln>
        </p:spPr>
      </p:sp>
      <p:pic>
        <p:nvPicPr>
          <p:cNvPr id="23" name="Image 2" descr="C:\Users\user\Desktop\board-game\public\art\dualBlade_idle.gif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95828" y="1545336"/>
            <a:ext cx="1051560" cy="10515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697480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B0B7C3"/>
            </a:solidFill>
            <a:prstDash val="solid"/>
          </a:ln>
        </p:spPr>
      </p:sp>
      <p:pic>
        <p:nvPicPr>
          <p:cNvPr id="25" name="Image 3" descr="C:\Users\user\Desktop\board-game\public\assets\icons\dualBla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42646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715768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양손 검객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2834640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5C6B73"/>
          </a:solidFill>
          <a:ln/>
        </p:spPr>
      </p:sp>
      <p:sp>
        <p:nvSpPr>
          <p:cNvPr id="28" name="Text 22"/>
          <p:cNvSpPr/>
          <p:nvPr/>
        </p:nvSpPr>
        <p:spPr>
          <a:xfrm>
            <a:off x="2834640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3730752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730752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2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2825496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32" name="Text 26"/>
          <p:cNvSpPr/>
          <p:nvPr/>
        </p:nvSpPr>
        <p:spPr>
          <a:xfrm>
            <a:off x="2807208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0B7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좌우 대각선 4칸(col±1, row±1)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2807208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쌍검무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2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턴 공격 2회 실행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983480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983480" y="1234440"/>
            <a:ext cx="2194560" cy="91440"/>
          </a:xfrm>
          <a:prstGeom prst="rect">
            <a:avLst/>
          </a:prstGeom>
          <a:solidFill>
            <a:srgbClr val="B0B7C3"/>
          </a:solidFill>
          <a:ln/>
        </p:spPr>
      </p:sp>
      <p:sp>
        <p:nvSpPr>
          <p:cNvPr id="36" name="Shape 30"/>
          <p:cNvSpPr/>
          <p:nvPr/>
        </p:nvSpPr>
        <p:spPr>
          <a:xfrm>
            <a:off x="5445252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B0B7C3"/>
            </a:solidFill>
            <a:prstDash val="solid"/>
          </a:ln>
        </p:spPr>
      </p:sp>
      <p:pic>
        <p:nvPicPr>
          <p:cNvPr id="37" name="Image 4" descr="C:\Users\user\Desktop\board-game\public\art\ratMerchant_idle.gif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554980" y="1545336"/>
            <a:ext cx="1051560" cy="105156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5056632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B0B7C3"/>
            </a:solidFill>
            <a:prstDash val="solid"/>
          </a:ln>
        </p:spPr>
      </p:sp>
      <p:pic>
        <p:nvPicPr>
          <p:cNvPr id="39" name="Image 5" descr="C:\Users\user\Desktop\board-game\public\assets\icons\ratMerchan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1426464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07492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쥐 장수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5193792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B23A48"/>
          </a:solidFill>
          <a:ln/>
        </p:spPr>
      </p:sp>
      <p:sp>
        <p:nvSpPr>
          <p:cNvPr id="42" name="Text 34"/>
          <p:cNvSpPr/>
          <p:nvPr/>
        </p:nvSpPr>
        <p:spPr>
          <a:xfrm>
            <a:off x="5193792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악인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6089904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089904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45" name="Shape 37"/>
          <p:cNvSpPr/>
          <p:nvPr/>
        </p:nvSpPr>
        <p:spPr>
          <a:xfrm>
            <a:off x="5184648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46" name="Text 38"/>
          <p:cNvSpPr/>
          <p:nvPr/>
        </p:nvSpPr>
        <p:spPr>
          <a:xfrm>
            <a:off x="5166360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0B7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제자리 + 소환된 쥐 칸 공격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5166360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역병의 자손들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2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쥐 없는 랜덤 타일 세 곳에 쥐 소환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7342632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7342632" y="1234440"/>
            <a:ext cx="2194560" cy="91440"/>
          </a:xfrm>
          <a:prstGeom prst="rect">
            <a:avLst/>
          </a:prstGeom>
          <a:solidFill>
            <a:srgbClr val="B0B7C3"/>
          </a:solidFill>
          <a:ln/>
        </p:spPr>
      </p:sp>
      <p:sp>
        <p:nvSpPr>
          <p:cNvPr id="50" name="Shape 42"/>
          <p:cNvSpPr/>
          <p:nvPr/>
        </p:nvSpPr>
        <p:spPr>
          <a:xfrm>
            <a:off x="7804404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B0B7C3"/>
            </a:solidFill>
            <a:prstDash val="solid"/>
          </a:ln>
        </p:spPr>
      </p:sp>
      <p:pic>
        <p:nvPicPr>
          <p:cNvPr id="51" name="Image 6" descr="C:\Users\user\Desktop\board-game\public\art\weaponSmith_idle.gif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914132" y="1545336"/>
            <a:ext cx="1051560" cy="1051560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7415784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B0B7C3"/>
            </a:solidFill>
            <a:prstDash val="solid"/>
          </a:ln>
        </p:spPr>
      </p:sp>
      <p:pic>
        <p:nvPicPr>
          <p:cNvPr id="53" name="Image 7" descr="C:\Users\user\Desktop\board-game\public\assets\icons\weaponSmi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1504" y="1426464"/>
            <a:ext cx="274320" cy="27432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434072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무기상</a:t>
            </a:r>
            <a:endParaRPr lang="en-US" sz="1600" dirty="0"/>
          </a:p>
        </p:txBody>
      </p:sp>
      <p:sp>
        <p:nvSpPr>
          <p:cNvPr id="55" name="Shape 45"/>
          <p:cNvSpPr/>
          <p:nvPr/>
        </p:nvSpPr>
        <p:spPr>
          <a:xfrm>
            <a:off x="7552944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5C6B73"/>
          </a:solidFill>
          <a:ln/>
        </p:spPr>
      </p:sp>
      <p:sp>
        <p:nvSpPr>
          <p:cNvPr id="56" name="Text 46"/>
          <p:cNvSpPr/>
          <p:nvPr/>
        </p:nvSpPr>
        <p:spPr>
          <a:xfrm>
            <a:off x="7552944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</a:t>
            </a:r>
            <a:endParaRPr lang="en-US" sz="1150" dirty="0"/>
          </a:p>
        </p:txBody>
      </p:sp>
      <p:sp>
        <p:nvSpPr>
          <p:cNvPr id="57" name="Shape 47"/>
          <p:cNvSpPr/>
          <p:nvPr/>
        </p:nvSpPr>
        <p:spPr>
          <a:xfrm>
            <a:off x="8449056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8449056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2</a:t>
            </a:r>
            <a:endParaRPr lang="en-US" sz="1150" dirty="0"/>
          </a:p>
        </p:txBody>
      </p:sp>
      <p:sp>
        <p:nvSpPr>
          <p:cNvPr id="59" name="Shape 49"/>
          <p:cNvSpPr/>
          <p:nvPr/>
        </p:nvSpPr>
        <p:spPr>
          <a:xfrm>
            <a:off x="7543800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60" name="Text 50"/>
          <p:cNvSpPr/>
          <p:nvPr/>
        </p:nvSpPr>
        <p:spPr>
          <a:xfrm>
            <a:off x="7525512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0B7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3칸(정비로 세로 전환)</a:t>
            </a:r>
            <a:endParaRPr lang="en-US" sz="1100" dirty="0"/>
          </a:p>
        </p:txBody>
      </p:sp>
      <p:sp>
        <p:nvSpPr>
          <p:cNvPr id="61" name="Text 51"/>
          <p:cNvSpPr/>
          <p:nvPr/>
        </p:nvSpPr>
        <p:spPr>
          <a:xfrm>
            <a:off x="7525512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정비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1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 ↔ 세로 공격 범위 전환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9701784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63" name="Shape 53"/>
          <p:cNvSpPr/>
          <p:nvPr/>
        </p:nvSpPr>
        <p:spPr>
          <a:xfrm>
            <a:off x="9701784" y="1234440"/>
            <a:ext cx="2194560" cy="91440"/>
          </a:xfrm>
          <a:prstGeom prst="rect">
            <a:avLst/>
          </a:prstGeom>
          <a:solidFill>
            <a:srgbClr val="B0B7C3"/>
          </a:solidFill>
          <a:ln/>
        </p:spPr>
      </p:sp>
      <p:sp>
        <p:nvSpPr>
          <p:cNvPr id="64" name="Shape 54"/>
          <p:cNvSpPr/>
          <p:nvPr/>
        </p:nvSpPr>
        <p:spPr>
          <a:xfrm>
            <a:off x="10163556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B0B7C3"/>
            </a:solidFill>
            <a:prstDash val="solid"/>
          </a:ln>
        </p:spPr>
      </p:sp>
      <p:pic>
        <p:nvPicPr>
          <p:cNvPr id="65" name="Image 8" descr="C:\Users\user\Desktop\board-game\public\art\bodyguard_idle.gif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273284" y="1545336"/>
            <a:ext cx="1051560" cy="1051560"/>
          </a:xfrm>
          <a:prstGeom prst="rect">
            <a:avLst/>
          </a:prstGeom>
        </p:spPr>
      </p:pic>
      <p:sp>
        <p:nvSpPr>
          <p:cNvPr id="66" name="Shape 55"/>
          <p:cNvSpPr/>
          <p:nvPr/>
        </p:nvSpPr>
        <p:spPr>
          <a:xfrm>
            <a:off x="9774936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B0B7C3"/>
            </a:solidFill>
            <a:prstDash val="solid"/>
          </a:ln>
        </p:spPr>
      </p:sp>
      <p:pic>
        <p:nvPicPr>
          <p:cNvPr id="67" name="Image 9" descr="C:\Users\user\Desktop\board-game\public\assets\icons\bodyguar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0656" y="1426464"/>
            <a:ext cx="274320" cy="274320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9793224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호위 무사</a:t>
            </a:r>
            <a:endParaRPr lang="en-US" sz="1600" dirty="0"/>
          </a:p>
        </p:txBody>
      </p:sp>
      <p:sp>
        <p:nvSpPr>
          <p:cNvPr id="69" name="Shape 57"/>
          <p:cNvSpPr/>
          <p:nvPr/>
        </p:nvSpPr>
        <p:spPr>
          <a:xfrm>
            <a:off x="9912096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C9A227"/>
          </a:solidFill>
          <a:ln/>
        </p:spPr>
      </p:sp>
      <p:sp>
        <p:nvSpPr>
          <p:cNvPr id="70" name="Text 58"/>
          <p:cNvSpPr/>
          <p:nvPr/>
        </p:nvSpPr>
        <p:spPr>
          <a:xfrm>
            <a:off x="9912096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왕실</a:t>
            </a:r>
            <a:endParaRPr lang="en-US" sz="1150" dirty="0"/>
          </a:p>
        </p:txBody>
      </p:sp>
      <p:sp>
        <p:nvSpPr>
          <p:cNvPr id="71" name="Shape 59"/>
          <p:cNvSpPr/>
          <p:nvPr/>
        </p:nvSpPr>
        <p:spPr>
          <a:xfrm>
            <a:off x="10808208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B0B7C3"/>
            </a:solidFill>
            <a:prstDash val="solid"/>
          </a:ln>
        </p:spPr>
      </p:sp>
      <p:sp>
        <p:nvSpPr>
          <p:cNvPr id="72" name="Text 60"/>
          <p:cNvSpPr/>
          <p:nvPr/>
        </p:nvSpPr>
        <p:spPr>
          <a:xfrm>
            <a:off x="10808208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73" name="Shape 61"/>
          <p:cNvSpPr/>
          <p:nvPr/>
        </p:nvSpPr>
        <p:spPr>
          <a:xfrm>
            <a:off x="9902952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74" name="Text 62"/>
          <p:cNvSpPr/>
          <p:nvPr/>
        </p:nvSpPr>
        <p:spPr>
          <a:xfrm>
            <a:off x="9884664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B0B7C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십자 상하좌우 4칸(자기 제외)</a:t>
            </a:r>
            <a:endParaRPr lang="en-US" sz="1100" dirty="0"/>
          </a:p>
        </p:txBody>
      </p:sp>
      <p:sp>
        <p:nvSpPr>
          <p:cNvPr id="75" name="Text 63"/>
          <p:cNvSpPr/>
          <p:nvPr/>
        </p:nvSpPr>
        <p:spPr>
          <a:xfrm>
            <a:off x="9884664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B3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패시브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충성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편 왕실 아군이 피격되면 대신 1 피해(왕실 0 피해)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2B7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티어 3 캐릭터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/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5176" y="1234440"/>
            <a:ext cx="2194560" cy="9144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8" name="Shape 6"/>
          <p:cNvSpPr/>
          <p:nvPr/>
        </p:nvSpPr>
        <p:spPr>
          <a:xfrm>
            <a:off x="726948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E2B714"/>
            </a:solidFill>
            <a:prstDash val="solid"/>
          </a:ln>
        </p:spPr>
      </p:sp>
      <p:pic>
        <p:nvPicPr>
          <p:cNvPr id="9" name="Image 0" descr="C:\Users\user\Desktop\board-game\public\art\prince_idle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" y="1545336"/>
            <a:ext cx="1051560" cy="1051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8328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E2B714"/>
            </a:solidFill>
            <a:prstDash val="solid"/>
          </a:ln>
        </p:spPr>
      </p:sp>
      <p:pic>
        <p:nvPicPr>
          <p:cNvPr id="11" name="Image 1" descr="C:\Users\user\Desktop\board-game\public\assets\icons\pri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264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왕자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75488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C9A227"/>
          </a:solidFill>
          <a:ln/>
        </p:spPr>
      </p:sp>
      <p:sp>
        <p:nvSpPr>
          <p:cNvPr id="14" name="Text 10"/>
          <p:cNvSpPr/>
          <p:nvPr/>
        </p:nvSpPr>
        <p:spPr>
          <a:xfrm>
            <a:off x="475488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왕실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371600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E2B7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371600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3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66344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18" name="Text 14"/>
          <p:cNvSpPr/>
          <p:nvPr/>
        </p:nvSpPr>
        <p:spPr>
          <a:xfrm>
            <a:off x="448056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 포함 좌우 3칸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48056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스킬·패시브 없음 (기본 공격형)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624328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624328" y="1234440"/>
            <a:ext cx="2194560" cy="9144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22" name="Shape 18"/>
          <p:cNvSpPr/>
          <p:nvPr/>
        </p:nvSpPr>
        <p:spPr>
          <a:xfrm>
            <a:off x="3086100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E2B714"/>
            </a:solidFill>
            <a:prstDash val="solid"/>
          </a:ln>
        </p:spPr>
      </p:sp>
      <p:pic>
        <p:nvPicPr>
          <p:cNvPr id="23" name="Image 2" descr="C:\Users\user\Desktop\board-game\public\art\princess_idle.gif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95828" y="1545336"/>
            <a:ext cx="1051560" cy="10515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697480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E2B714"/>
            </a:solidFill>
            <a:prstDash val="solid"/>
          </a:ln>
        </p:spPr>
      </p:sp>
      <p:pic>
        <p:nvPicPr>
          <p:cNvPr id="25" name="Image 3" descr="C:\Users\user\Desktop\board-game\public\assets\icons\princes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42646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715768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공주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2834640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C9A227"/>
          </a:solidFill>
          <a:ln/>
        </p:spPr>
      </p:sp>
      <p:sp>
        <p:nvSpPr>
          <p:cNvPr id="28" name="Text 22"/>
          <p:cNvSpPr/>
          <p:nvPr/>
        </p:nvSpPr>
        <p:spPr>
          <a:xfrm>
            <a:off x="2834640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왕실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3730752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E2B71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730752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3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2825496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32" name="Text 26"/>
          <p:cNvSpPr/>
          <p:nvPr/>
        </p:nvSpPr>
        <p:spPr>
          <a:xfrm>
            <a:off x="2807208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 포함 상하 3칸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2807208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i="1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스킬·패시브 없음 (기본 공격형)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983480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983480" y="1234440"/>
            <a:ext cx="2194560" cy="9144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36" name="Shape 30"/>
          <p:cNvSpPr/>
          <p:nvPr/>
        </p:nvSpPr>
        <p:spPr>
          <a:xfrm>
            <a:off x="5445252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E2B714"/>
            </a:solidFill>
            <a:prstDash val="solid"/>
          </a:ln>
        </p:spPr>
      </p:sp>
      <p:pic>
        <p:nvPicPr>
          <p:cNvPr id="37" name="Image 4" descr="C:\Users\user\Desktop\board-game\public\art\king_idle.gif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554980" y="1545336"/>
            <a:ext cx="1051560" cy="105156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5056632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E2B714"/>
            </a:solidFill>
            <a:prstDash val="solid"/>
          </a:ln>
        </p:spPr>
      </p:sp>
      <p:pic>
        <p:nvPicPr>
          <p:cNvPr id="39" name="Image 5" descr="C:\Users\user\Desktop\board-game\public\assets\icons\k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1426464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07492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국왕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5193792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C9A227"/>
          </a:solidFill>
          <a:ln/>
        </p:spPr>
      </p:sp>
      <p:sp>
        <p:nvSpPr>
          <p:cNvPr id="42" name="Text 34"/>
          <p:cNvSpPr/>
          <p:nvPr/>
        </p:nvSpPr>
        <p:spPr>
          <a:xfrm>
            <a:off x="5193792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왕실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6089904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E2B714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089904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2</a:t>
            </a:r>
            <a:endParaRPr lang="en-US" sz="1150" dirty="0"/>
          </a:p>
        </p:txBody>
      </p:sp>
      <p:sp>
        <p:nvSpPr>
          <p:cNvPr id="45" name="Shape 37"/>
          <p:cNvSpPr/>
          <p:nvPr/>
        </p:nvSpPr>
        <p:spPr>
          <a:xfrm>
            <a:off x="5184648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46" name="Text 38"/>
          <p:cNvSpPr/>
          <p:nvPr/>
        </p:nvSpPr>
        <p:spPr>
          <a:xfrm>
            <a:off x="5166360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자신의 칸만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5166360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절대복종 반지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3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 유닛 하나의 위치 강제 이동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7342632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7342632" y="1234440"/>
            <a:ext cx="2194560" cy="9144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50" name="Shape 42"/>
          <p:cNvSpPr/>
          <p:nvPr/>
        </p:nvSpPr>
        <p:spPr>
          <a:xfrm>
            <a:off x="7804404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E2B714"/>
            </a:solidFill>
            <a:prstDash val="solid"/>
          </a:ln>
        </p:spPr>
      </p:sp>
      <p:pic>
        <p:nvPicPr>
          <p:cNvPr id="51" name="Image 6" descr="C:\Users\user\Desktop\board-game\public\art\dragonTamer_idle.gif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914132" y="1545336"/>
            <a:ext cx="1051560" cy="1051560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7415784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E2B714"/>
            </a:solidFill>
            <a:prstDash val="solid"/>
          </a:ln>
        </p:spPr>
      </p:sp>
      <p:pic>
        <p:nvPicPr>
          <p:cNvPr id="53" name="Image 7" descr="C:\Users\user\Desktop\board-game\public\assets\icons\dragonTam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1504" y="1426464"/>
            <a:ext cx="274320" cy="27432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434072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드래곤 조련사</a:t>
            </a:r>
            <a:endParaRPr lang="en-US" sz="1600" dirty="0"/>
          </a:p>
        </p:txBody>
      </p:sp>
      <p:sp>
        <p:nvSpPr>
          <p:cNvPr id="55" name="Shape 45"/>
          <p:cNvSpPr/>
          <p:nvPr/>
        </p:nvSpPr>
        <p:spPr>
          <a:xfrm>
            <a:off x="7552944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5C6B73"/>
          </a:solidFill>
          <a:ln/>
        </p:spPr>
      </p:sp>
      <p:sp>
        <p:nvSpPr>
          <p:cNvPr id="56" name="Text 46"/>
          <p:cNvSpPr/>
          <p:nvPr/>
        </p:nvSpPr>
        <p:spPr>
          <a:xfrm>
            <a:off x="7552944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</a:t>
            </a:r>
            <a:endParaRPr lang="en-US" sz="1150" dirty="0"/>
          </a:p>
        </p:txBody>
      </p:sp>
      <p:sp>
        <p:nvSpPr>
          <p:cNvPr id="57" name="Shape 47"/>
          <p:cNvSpPr/>
          <p:nvPr/>
        </p:nvSpPr>
        <p:spPr>
          <a:xfrm>
            <a:off x="8449056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E2B714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8449056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2</a:t>
            </a:r>
            <a:endParaRPr lang="en-US" sz="1150" dirty="0"/>
          </a:p>
        </p:txBody>
      </p:sp>
      <p:sp>
        <p:nvSpPr>
          <p:cNvPr id="59" name="Shape 49"/>
          <p:cNvSpPr/>
          <p:nvPr/>
        </p:nvSpPr>
        <p:spPr>
          <a:xfrm>
            <a:off x="7543800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60" name="Text 50"/>
          <p:cNvSpPr/>
          <p:nvPr/>
        </p:nvSpPr>
        <p:spPr>
          <a:xfrm>
            <a:off x="7525512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X대각선 4칸(자기 제외)</a:t>
            </a:r>
            <a:endParaRPr lang="en-US" sz="1100" dirty="0"/>
          </a:p>
        </p:txBody>
      </p:sp>
      <p:sp>
        <p:nvSpPr>
          <p:cNvPr id="61" name="Text 51"/>
          <p:cNvSpPr/>
          <p:nvPr/>
        </p:nvSpPr>
        <p:spPr>
          <a:xfrm>
            <a:off x="7525512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드래곤 소환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5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드래곤 유닛 소환(최고가 5 SP)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9701784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63" name="Shape 53"/>
          <p:cNvSpPr/>
          <p:nvPr/>
        </p:nvSpPr>
        <p:spPr>
          <a:xfrm>
            <a:off x="9701784" y="1234440"/>
            <a:ext cx="2194560" cy="9144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64" name="Shape 54"/>
          <p:cNvSpPr/>
          <p:nvPr/>
        </p:nvSpPr>
        <p:spPr>
          <a:xfrm>
            <a:off x="10163556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E2B714"/>
            </a:solidFill>
            <a:prstDash val="solid"/>
          </a:ln>
        </p:spPr>
      </p:sp>
      <p:pic>
        <p:nvPicPr>
          <p:cNvPr id="65" name="Image 8" descr="C:\Users\user\Desktop\board-game\public\art\monk_idle.gif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273284" y="1545336"/>
            <a:ext cx="1051560" cy="1051560"/>
          </a:xfrm>
          <a:prstGeom prst="rect">
            <a:avLst/>
          </a:prstGeom>
        </p:spPr>
      </p:pic>
      <p:sp>
        <p:nvSpPr>
          <p:cNvPr id="66" name="Shape 55"/>
          <p:cNvSpPr/>
          <p:nvPr/>
        </p:nvSpPr>
        <p:spPr>
          <a:xfrm>
            <a:off x="9774936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E2B714"/>
            </a:solidFill>
            <a:prstDash val="solid"/>
          </a:ln>
        </p:spPr>
      </p:sp>
      <p:pic>
        <p:nvPicPr>
          <p:cNvPr id="67" name="Image 9" descr="C:\Users\user\Desktop\board-game\public\assets\icons\mon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0656" y="1426464"/>
            <a:ext cx="274320" cy="274320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9793224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수도승</a:t>
            </a:r>
            <a:endParaRPr lang="en-US" sz="1600" dirty="0"/>
          </a:p>
        </p:txBody>
      </p:sp>
      <p:sp>
        <p:nvSpPr>
          <p:cNvPr id="69" name="Shape 57"/>
          <p:cNvSpPr/>
          <p:nvPr/>
        </p:nvSpPr>
        <p:spPr>
          <a:xfrm>
            <a:off x="9912096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5C6B73"/>
          </a:solidFill>
          <a:ln/>
        </p:spPr>
      </p:sp>
      <p:sp>
        <p:nvSpPr>
          <p:cNvPr id="70" name="Text 58"/>
          <p:cNvSpPr/>
          <p:nvPr/>
        </p:nvSpPr>
        <p:spPr>
          <a:xfrm>
            <a:off x="9912096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</a:t>
            </a:r>
            <a:endParaRPr lang="en-US" sz="1150" dirty="0"/>
          </a:p>
        </p:txBody>
      </p:sp>
      <p:sp>
        <p:nvSpPr>
          <p:cNvPr id="71" name="Shape 59"/>
          <p:cNvSpPr/>
          <p:nvPr/>
        </p:nvSpPr>
        <p:spPr>
          <a:xfrm>
            <a:off x="10808208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E2B714"/>
            </a:solidFill>
            <a:prstDash val="solid"/>
          </a:ln>
        </p:spPr>
      </p:sp>
      <p:sp>
        <p:nvSpPr>
          <p:cNvPr id="72" name="Text 60"/>
          <p:cNvSpPr/>
          <p:nvPr/>
        </p:nvSpPr>
        <p:spPr>
          <a:xfrm>
            <a:off x="10808208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73" name="Shape 61"/>
          <p:cNvSpPr/>
          <p:nvPr/>
        </p:nvSpPr>
        <p:spPr>
          <a:xfrm>
            <a:off x="9902952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74" name="Text 62"/>
          <p:cNvSpPr/>
          <p:nvPr/>
        </p:nvSpPr>
        <p:spPr>
          <a:xfrm>
            <a:off x="9884664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상하 각 1칸(자기 제외) · 세로</a:t>
            </a:r>
            <a:endParaRPr lang="en-US" sz="1100" dirty="0"/>
          </a:p>
        </p:txBody>
      </p:sp>
      <p:sp>
        <p:nvSpPr>
          <p:cNvPr id="75" name="Text 63"/>
          <p:cNvSpPr/>
          <p:nvPr/>
        </p:nvSpPr>
        <p:spPr>
          <a:xfrm>
            <a:off x="9884664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신성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3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아군 1명 체력 2 회복 + 상태이상 제거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B3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패시브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가호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악인 공격 시 피해 3 고정 · 악인에게 피격 시 피해 0.5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2B7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티어 3 캐릭터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65176" y="1234440"/>
            <a:ext cx="2194560" cy="9144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8" name="Shape 6"/>
          <p:cNvSpPr/>
          <p:nvPr/>
        </p:nvSpPr>
        <p:spPr>
          <a:xfrm>
            <a:off x="726948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E2B714"/>
            </a:solidFill>
            <a:prstDash val="solid"/>
          </a:ln>
        </p:spPr>
      </p:sp>
      <p:pic>
        <p:nvPicPr>
          <p:cNvPr id="9" name="Image 0" descr="C:\Users\user\Desktop\board-game\public\art\slaughterHero_idle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" y="1545336"/>
            <a:ext cx="1051560" cy="105156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38328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E2B714"/>
            </a:solidFill>
            <a:prstDash val="solid"/>
          </a:ln>
        </p:spPr>
      </p:sp>
      <p:pic>
        <p:nvPicPr>
          <p:cNvPr id="11" name="Image 1" descr="C:\Users\user\Desktop\board-game\public\assets\icons\slaughterH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42646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학살 영웅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75488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B23A48"/>
          </a:solidFill>
          <a:ln/>
        </p:spPr>
      </p:sp>
      <p:sp>
        <p:nvSpPr>
          <p:cNvPr id="14" name="Text 10"/>
          <p:cNvSpPr/>
          <p:nvPr/>
        </p:nvSpPr>
        <p:spPr>
          <a:xfrm>
            <a:off x="475488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악인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1371600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E2B7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371600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466344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18" name="Text 14"/>
          <p:cNvSpPr/>
          <p:nvPr/>
        </p:nvSpPr>
        <p:spPr>
          <a:xfrm>
            <a:off x="448056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3×3 전체 9칸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448056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B3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패시브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배반자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3×3 공격에 아군도 피해(오사)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2624328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2624328" y="1234440"/>
            <a:ext cx="2194560" cy="9144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22" name="Shape 18"/>
          <p:cNvSpPr/>
          <p:nvPr/>
        </p:nvSpPr>
        <p:spPr>
          <a:xfrm>
            <a:off x="3086100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E2B714"/>
            </a:solidFill>
            <a:prstDash val="solid"/>
          </a:ln>
        </p:spPr>
      </p:sp>
      <p:pic>
        <p:nvPicPr>
          <p:cNvPr id="23" name="Image 2" descr="C:\Users\user\Desktop\board-game\public\art\commander_idle.gif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95828" y="1545336"/>
            <a:ext cx="1051560" cy="1051560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2697480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E2B714"/>
            </a:solidFill>
            <a:prstDash val="solid"/>
          </a:ln>
        </p:spPr>
      </p:sp>
      <p:pic>
        <p:nvPicPr>
          <p:cNvPr id="25" name="Image 3" descr="C:\Users\user\Desktop\board-game\public\assets\icons\comman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1426464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715768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지휘관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2834640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C9A227"/>
          </a:solidFill>
          <a:ln/>
        </p:spPr>
      </p:sp>
      <p:sp>
        <p:nvSpPr>
          <p:cNvPr id="28" name="Text 22"/>
          <p:cNvSpPr/>
          <p:nvPr/>
        </p:nvSpPr>
        <p:spPr>
          <a:xfrm>
            <a:off x="2834640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왕실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3730752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E2B71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730752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2</a:t>
            </a:r>
            <a:endParaRPr lang="en-US" sz="1150" dirty="0"/>
          </a:p>
        </p:txBody>
      </p:sp>
      <p:sp>
        <p:nvSpPr>
          <p:cNvPr id="31" name="Shape 25"/>
          <p:cNvSpPr/>
          <p:nvPr/>
        </p:nvSpPr>
        <p:spPr>
          <a:xfrm>
            <a:off x="2825496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32" name="Text 26"/>
          <p:cNvSpPr/>
          <p:nvPr/>
        </p:nvSpPr>
        <p:spPr>
          <a:xfrm>
            <a:off x="2807208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좌우 각 1칸(자기 제외)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2807208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B3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패시브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사기증진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직교 인접 아군이 공격 시 그 피해 +1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983480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983480" y="1234440"/>
            <a:ext cx="2194560" cy="9144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36" name="Shape 30"/>
          <p:cNvSpPr/>
          <p:nvPr/>
        </p:nvSpPr>
        <p:spPr>
          <a:xfrm>
            <a:off x="5445252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E2B714"/>
            </a:solidFill>
            <a:prstDash val="solid"/>
          </a:ln>
        </p:spPr>
      </p:sp>
      <p:pic>
        <p:nvPicPr>
          <p:cNvPr id="37" name="Image 4" descr="C:\Users\user\Desktop\board-game\public\art\sulfurCauldron_idle.gif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5554980" y="1545336"/>
            <a:ext cx="1051560" cy="1051560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5056632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E2B714"/>
            </a:solidFill>
            <a:prstDash val="solid"/>
          </a:ln>
        </p:spPr>
      </p:sp>
      <p:pic>
        <p:nvPicPr>
          <p:cNvPr id="39" name="Image 5" descr="C:\Users\user\Desktop\board-game\public\assets\icons\sulfurCauldro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2352" y="1426464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074920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유황이 끓는 솥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5193792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C9A227"/>
          </a:solidFill>
          <a:ln/>
        </p:spPr>
      </p:sp>
      <p:sp>
        <p:nvSpPr>
          <p:cNvPr id="42" name="Text 34"/>
          <p:cNvSpPr/>
          <p:nvPr/>
        </p:nvSpPr>
        <p:spPr>
          <a:xfrm>
            <a:off x="5193792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41B0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왕실</a:t>
            </a:r>
            <a:endParaRPr lang="en-US" sz="1150" dirty="0"/>
          </a:p>
        </p:txBody>
      </p:sp>
      <p:sp>
        <p:nvSpPr>
          <p:cNvPr id="43" name="Shape 35"/>
          <p:cNvSpPr/>
          <p:nvPr/>
        </p:nvSpPr>
        <p:spPr>
          <a:xfrm>
            <a:off x="6089904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E2B714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089904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0.5</a:t>
            </a:r>
            <a:endParaRPr lang="en-US" sz="1150" dirty="0"/>
          </a:p>
        </p:txBody>
      </p:sp>
      <p:sp>
        <p:nvSpPr>
          <p:cNvPr id="45" name="Shape 37"/>
          <p:cNvSpPr/>
          <p:nvPr/>
        </p:nvSpPr>
        <p:spPr>
          <a:xfrm>
            <a:off x="5184648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46" name="Text 38"/>
          <p:cNvSpPr/>
          <p:nvPr/>
        </p:nvSpPr>
        <p:spPr>
          <a:xfrm>
            <a:off x="5166360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주변 8칸(자기 제외)</a:t>
            </a:r>
            <a:endParaRPr lang="en-US" sz="1100" dirty="0"/>
          </a:p>
        </p:txBody>
      </p:sp>
      <p:sp>
        <p:nvSpPr>
          <p:cNvPr id="47" name="Text 39"/>
          <p:cNvSpPr/>
          <p:nvPr/>
        </p:nvSpPr>
        <p:spPr>
          <a:xfrm>
            <a:off x="5166360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유황범람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3 · 행동대체)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보드 테두리 전체 공격 · 2 피해</a:t>
            </a:r>
            <a:endParaRPr lang="en-US" sz="1050" dirty="0"/>
          </a:p>
        </p:txBody>
      </p:sp>
      <p:sp>
        <p:nvSpPr>
          <p:cNvPr id="48" name="Shape 40"/>
          <p:cNvSpPr/>
          <p:nvPr/>
        </p:nvSpPr>
        <p:spPr>
          <a:xfrm>
            <a:off x="7342632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49" name="Shape 41"/>
          <p:cNvSpPr/>
          <p:nvPr/>
        </p:nvSpPr>
        <p:spPr>
          <a:xfrm>
            <a:off x="7342632" y="1234440"/>
            <a:ext cx="2194560" cy="9144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50" name="Shape 42"/>
          <p:cNvSpPr/>
          <p:nvPr/>
        </p:nvSpPr>
        <p:spPr>
          <a:xfrm>
            <a:off x="7804404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E2B714"/>
            </a:solidFill>
            <a:prstDash val="solid"/>
          </a:ln>
        </p:spPr>
      </p:sp>
      <p:pic>
        <p:nvPicPr>
          <p:cNvPr id="51" name="Image 6" descr="C:\Users\user\Desktop\board-game\public\art\torturer_idle.gif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914132" y="1545336"/>
            <a:ext cx="1051560" cy="1051560"/>
          </a:xfrm>
          <a:prstGeom prst="rect">
            <a:avLst/>
          </a:prstGeom>
        </p:spPr>
      </p:pic>
      <p:sp>
        <p:nvSpPr>
          <p:cNvPr id="52" name="Shape 43"/>
          <p:cNvSpPr/>
          <p:nvPr/>
        </p:nvSpPr>
        <p:spPr>
          <a:xfrm>
            <a:off x="7415784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E2B714"/>
            </a:solidFill>
            <a:prstDash val="solid"/>
          </a:ln>
        </p:spPr>
      </p:sp>
      <p:pic>
        <p:nvPicPr>
          <p:cNvPr id="53" name="Image 7" descr="C:\Users\user\Desktop\board-game\public\assets\icons\torture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1504" y="1426464"/>
            <a:ext cx="274320" cy="274320"/>
          </a:xfrm>
          <a:prstGeom prst="rect">
            <a:avLst/>
          </a:prstGeom>
        </p:spPr>
      </p:pic>
      <p:sp>
        <p:nvSpPr>
          <p:cNvPr id="54" name="Text 44"/>
          <p:cNvSpPr/>
          <p:nvPr/>
        </p:nvSpPr>
        <p:spPr>
          <a:xfrm>
            <a:off x="7434072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고문 기술자</a:t>
            </a:r>
            <a:endParaRPr lang="en-US" sz="1600" dirty="0"/>
          </a:p>
        </p:txBody>
      </p:sp>
      <p:sp>
        <p:nvSpPr>
          <p:cNvPr id="55" name="Shape 45"/>
          <p:cNvSpPr/>
          <p:nvPr/>
        </p:nvSpPr>
        <p:spPr>
          <a:xfrm>
            <a:off x="7552944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B23A48"/>
          </a:solidFill>
          <a:ln/>
        </p:spPr>
      </p:sp>
      <p:sp>
        <p:nvSpPr>
          <p:cNvPr id="56" name="Text 46"/>
          <p:cNvSpPr/>
          <p:nvPr/>
        </p:nvSpPr>
        <p:spPr>
          <a:xfrm>
            <a:off x="7552944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악인</a:t>
            </a:r>
            <a:endParaRPr lang="en-US" sz="1150" dirty="0"/>
          </a:p>
        </p:txBody>
      </p:sp>
      <p:sp>
        <p:nvSpPr>
          <p:cNvPr id="57" name="Shape 47"/>
          <p:cNvSpPr/>
          <p:nvPr/>
        </p:nvSpPr>
        <p:spPr>
          <a:xfrm>
            <a:off x="8449056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E2B714"/>
            </a:solidFill>
            <a:prstDash val="solid"/>
          </a:ln>
        </p:spPr>
      </p:sp>
      <p:sp>
        <p:nvSpPr>
          <p:cNvPr id="58" name="Text 48"/>
          <p:cNvSpPr/>
          <p:nvPr/>
        </p:nvSpPr>
        <p:spPr>
          <a:xfrm>
            <a:off x="8449056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1</a:t>
            </a:r>
            <a:endParaRPr lang="en-US" sz="1150" dirty="0"/>
          </a:p>
        </p:txBody>
      </p:sp>
      <p:sp>
        <p:nvSpPr>
          <p:cNvPr id="59" name="Shape 49"/>
          <p:cNvSpPr/>
          <p:nvPr/>
        </p:nvSpPr>
        <p:spPr>
          <a:xfrm>
            <a:off x="7543800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60" name="Text 50"/>
          <p:cNvSpPr/>
          <p:nvPr/>
        </p:nvSpPr>
        <p:spPr>
          <a:xfrm>
            <a:off x="7525512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십자 4방향(자기 제외) 4칸</a:t>
            </a:r>
            <a:endParaRPr lang="en-US" sz="1100" dirty="0"/>
          </a:p>
        </p:txBody>
      </p:sp>
      <p:sp>
        <p:nvSpPr>
          <p:cNvPr id="61" name="Text 51"/>
          <p:cNvSpPr/>
          <p:nvPr/>
        </p:nvSpPr>
        <p:spPr>
          <a:xfrm>
            <a:off x="7525512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악몽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(SP 2 · 무료)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표식 상태의 모든 적에게 1 피해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B3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패시브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표식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공격·피격 시 대상에 표식 부여(악몽 콤보)</a:t>
            </a:r>
            <a:endParaRPr lang="en-US" sz="1050" dirty="0"/>
          </a:p>
        </p:txBody>
      </p:sp>
      <p:sp>
        <p:nvSpPr>
          <p:cNvPr id="62" name="Shape 52"/>
          <p:cNvSpPr/>
          <p:nvPr/>
        </p:nvSpPr>
        <p:spPr>
          <a:xfrm>
            <a:off x="9701784" y="1234440"/>
            <a:ext cx="2194560" cy="525780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63" name="Shape 53"/>
          <p:cNvSpPr/>
          <p:nvPr/>
        </p:nvSpPr>
        <p:spPr>
          <a:xfrm>
            <a:off x="9701784" y="1234440"/>
            <a:ext cx="2194560" cy="9144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64" name="Shape 54"/>
          <p:cNvSpPr/>
          <p:nvPr/>
        </p:nvSpPr>
        <p:spPr>
          <a:xfrm>
            <a:off x="10163556" y="1435608"/>
            <a:ext cx="1271016" cy="1271016"/>
          </a:xfrm>
          <a:prstGeom prst="ellipse">
            <a:avLst/>
          </a:prstGeom>
          <a:solidFill>
            <a:srgbClr val="2E2842"/>
          </a:solidFill>
          <a:ln w="19050">
            <a:solidFill>
              <a:srgbClr val="E2B714"/>
            </a:solidFill>
            <a:prstDash val="solid"/>
          </a:ln>
        </p:spPr>
      </p:sp>
      <p:pic>
        <p:nvPicPr>
          <p:cNvPr id="65" name="Image 8" descr="C:\Users\user\Desktop\board-game\public\art\count_idle.gif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273284" y="1545336"/>
            <a:ext cx="1051560" cy="1051560"/>
          </a:xfrm>
          <a:prstGeom prst="rect">
            <a:avLst/>
          </a:prstGeom>
        </p:spPr>
      </p:pic>
      <p:sp>
        <p:nvSpPr>
          <p:cNvPr id="66" name="Shape 55"/>
          <p:cNvSpPr/>
          <p:nvPr/>
        </p:nvSpPr>
        <p:spPr>
          <a:xfrm>
            <a:off x="9774936" y="1380744"/>
            <a:ext cx="365760" cy="365760"/>
          </a:xfrm>
          <a:prstGeom prst="ellipse">
            <a:avLst/>
          </a:prstGeom>
          <a:solidFill>
            <a:srgbClr val="17141F"/>
          </a:solidFill>
          <a:ln w="12700">
            <a:solidFill>
              <a:srgbClr val="E2B714"/>
            </a:solidFill>
            <a:prstDash val="solid"/>
          </a:ln>
        </p:spPr>
      </p:sp>
      <p:pic>
        <p:nvPicPr>
          <p:cNvPr id="67" name="Image 9" descr="C:\Users\user\Desktop\board-game\public\assets\icons\coun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20656" y="1426464"/>
            <a:ext cx="274320" cy="274320"/>
          </a:xfrm>
          <a:prstGeom prst="rect">
            <a:avLst/>
          </a:prstGeom>
        </p:spPr>
      </p:pic>
      <p:sp>
        <p:nvSpPr>
          <p:cNvPr id="68" name="Text 56"/>
          <p:cNvSpPr/>
          <p:nvPr/>
        </p:nvSpPr>
        <p:spPr>
          <a:xfrm>
            <a:off x="9793224" y="28346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백작</a:t>
            </a:r>
            <a:endParaRPr lang="en-US" sz="1600" dirty="0"/>
          </a:p>
        </p:txBody>
      </p:sp>
      <p:sp>
        <p:nvSpPr>
          <p:cNvPr id="69" name="Shape 57"/>
          <p:cNvSpPr/>
          <p:nvPr/>
        </p:nvSpPr>
        <p:spPr>
          <a:xfrm>
            <a:off x="9912096" y="3319272"/>
            <a:ext cx="786384" cy="329184"/>
          </a:xfrm>
          <a:prstGeom prst="roundRect">
            <a:avLst>
              <a:gd name="adj" fmla="val 13889"/>
            </a:avLst>
          </a:prstGeom>
          <a:solidFill>
            <a:srgbClr val="B23A48"/>
          </a:solidFill>
          <a:ln/>
        </p:spPr>
      </p:sp>
      <p:sp>
        <p:nvSpPr>
          <p:cNvPr id="70" name="Text 58"/>
          <p:cNvSpPr/>
          <p:nvPr/>
        </p:nvSpPr>
        <p:spPr>
          <a:xfrm>
            <a:off x="9912096" y="3319272"/>
            <a:ext cx="7863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악인</a:t>
            </a:r>
            <a:endParaRPr lang="en-US" sz="1150" dirty="0"/>
          </a:p>
        </p:txBody>
      </p:sp>
      <p:sp>
        <p:nvSpPr>
          <p:cNvPr id="71" name="Shape 59"/>
          <p:cNvSpPr/>
          <p:nvPr/>
        </p:nvSpPr>
        <p:spPr>
          <a:xfrm>
            <a:off x="10808208" y="3319272"/>
            <a:ext cx="877824" cy="329184"/>
          </a:xfrm>
          <a:prstGeom prst="roundRect">
            <a:avLst>
              <a:gd name="adj" fmla="val 13889"/>
            </a:avLst>
          </a:prstGeom>
          <a:solidFill>
            <a:srgbClr val="2E2842"/>
          </a:solidFill>
          <a:ln w="12700">
            <a:solidFill>
              <a:srgbClr val="E2B714"/>
            </a:solidFill>
            <a:prstDash val="solid"/>
          </a:ln>
        </p:spPr>
      </p:sp>
      <p:sp>
        <p:nvSpPr>
          <p:cNvPr id="72" name="Text 60"/>
          <p:cNvSpPr/>
          <p:nvPr/>
        </p:nvSpPr>
        <p:spPr>
          <a:xfrm>
            <a:off x="10808208" y="3319272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2</a:t>
            </a:r>
            <a:endParaRPr lang="en-US" sz="1150" dirty="0"/>
          </a:p>
        </p:txBody>
      </p:sp>
      <p:sp>
        <p:nvSpPr>
          <p:cNvPr id="73" name="Shape 61"/>
          <p:cNvSpPr/>
          <p:nvPr/>
        </p:nvSpPr>
        <p:spPr>
          <a:xfrm>
            <a:off x="9902952" y="3813048"/>
            <a:ext cx="1792224" cy="13716"/>
          </a:xfrm>
          <a:prstGeom prst="rect">
            <a:avLst/>
          </a:prstGeom>
          <a:solidFill>
            <a:srgbClr val="453C5C"/>
          </a:solidFill>
          <a:ln/>
        </p:spPr>
      </p:sp>
      <p:sp>
        <p:nvSpPr>
          <p:cNvPr id="74" name="Text 62"/>
          <p:cNvSpPr/>
          <p:nvPr/>
        </p:nvSpPr>
        <p:spPr>
          <a:xfrm>
            <a:off x="9884664" y="393192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 포함 X대각선 5칸</a:t>
            </a:r>
            <a:endParaRPr lang="en-US" sz="1100" dirty="0"/>
          </a:p>
        </p:txBody>
      </p:sp>
      <p:sp>
        <p:nvSpPr>
          <p:cNvPr id="75" name="Text 63"/>
          <p:cNvSpPr/>
          <p:nvPr/>
        </p:nvSpPr>
        <p:spPr>
          <a:xfrm>
            <a:off x="9884664" y="4892040"/>
            <a:ext cx="1828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7FB3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패시브 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폭정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티어1·2 공격자에게 피격 시 피해 −0.5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E2B71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65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14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80160" y="38404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특수 유닛 — 드래곤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0" y="4572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소환 전용 (드래프트 불가)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1600200"/>
            <a:ext cx="3200400" cy="3200400"/>
          </a:xfrm>
          <a:prstGeom prst="ellipse">
            <a:avLst/>
          </a:prstGeom>
          <a:solidFill>
            <a:srgbClr val="2E2842"/>
          </a:solidFill>
          <a:ln w="25400">
            <a:solidFill>
              <a:srgbClr val="E2B71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pic>
        <p:nvPicPr>
          <p:cNvPr id="7" name="Image 0" descr="C:\Users\user\Desktop\board-game\public\art\dragon_idle.gif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1828800"/>
            <a:ext cx="2743200" cy="2743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280160" y="1737360"/>
            <a:ext cx="640080" cy="640080"/>
          </a:xfrm>
          <a:prstGeom prst="ellipse">
            <a:avLst/>
          </a:prstGeom>
          <a:solidFill>
            <a:srgbClr val="17141F"/>
          </a:solidFill>
          <a:ln w="19050">
            <a:solidFill>
              <a:srgbClr val="E2B714"/>
            </a:solidFill>
            <a:prstDash val="solid"/>
          </a:ln>
        </p:spPr>
      </p:sp>
      <p:pic>
        <p:nvPicPr>
          <p:cNvPr id="9" name="Image 1" descr="C:\Users\user\Desktop\board-game\public\assets\icons\drag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456" y="1819656"/>
            <a:ext cx="475488" cy="47548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486400" y="1417320"/>
            <a:ext cx="6126480" cy="4663440"/>
          </a:xfrm>
          <a:prstGeom prst="rect">
            <a:avLst/>
          </a:prstGeom>
          <a:solidFill>
            <a:srgbClr val="241F33"/>
          </a:solidFill>
          <a:ln w="12700">
            <a:solidFill>
              <a:srgbClr val="453C5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486400" y="1417320"/>
            <a:ext cx="6126480" cy="91440"/>
          </a:xfrm>
          <a:prstGeom prst="rect">
            <a:avLst/>
          </a:prstGeom>
          <a:solidFill>
            <a:srgbClr val="E2B714"/>
          </a:solidFill>
          <a:ln/>
        </p:spPr>
      </p:sp>
      <p:sp>
        <p:nvSpPr>
          <p:cNvPr id="12" name="Text 8"/>
          <p:cNvSpPr/>
          <p:nvPr/>
        </p:nvSpPr>
        <p:spPr>
          <a:xfrm>
            <a:off x="5852160" y="16916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DE9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드래곤</a:t>
            </a:r>
            <a:endParaRPr lang="en-US" sz="3200" dirty="0"/>
          </a:p>
        </p:txBody>
      </p:sp>
      <p:sp>
        <p:nvSpPr>
          <p:cNvPr id="13" name="Shape 9"/>
          <p:cNvSpPr/>
          <p:nvPr/>
        </p:nvSpPr>
        <p:spPr>
          <a:xfrm>
            <a:off x="5852160" y="2468880"/>
            <a:ext cx="1005840" cy="384048"/>
          </a:xfrm>
          <a:prstGeom prst="roundRect">
            <a:avLst>
              <a:gd name="adj" fmla="val 11905"/>
            </a:avLst>
          </a:prstGeom>
          <a:solidFill>
            <a:srgbClr val="5C6B73"/>
          </a:solidFill>
          <a:ln/>
        </p:spPr>
      </p:sp>
      <p:sp>
        <p:nvSpPr>
          <p:cNvPr id="14" name="Text 10"/>
          <p:cNvSpPr/>
          <p:nvPr/>
        </p:nvSpPr>
        <p:spPr>
          <a:xfrm>
            <a:off x="5852160" y="2468880"/>
            <a:ext cx="1005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중립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995160" y="2468880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2E2842"/>
          </a:solidFill>
          <a:ln w="12700">
            <a:solidFill>
              <a:srgbClr val="E2B71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995160" y="24688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ATK 3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229600" y="2468880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2E2842"/>
          </a:solidFill>
          <a:ln w="12700">
            <a:solidFill>
              <a:srgbClr val="E2B714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229600" y="246888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FD49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HP 3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852160" y="3108960"/>
            <a:ext cx="53949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공격 범위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자신 + 상하좌우 십자 5칸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소환 방법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드래곤 조련사의 스킬 '드래곤 소환'(SP 5, 최고가)으로 빈 칸(유해 제외)에 소환되는 특수 유닛.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E2B71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특징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EDE9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사망 시 유해를 남기지 않음. 보드 위 최강의 단일 전력.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B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스킬 전체 목록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11247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02920"/>
                <a:gridCol w="1828800"/>
                <a:gridCol w="502920"/>
                <a:gridCol w="1005840"/>
                <a:gridCol w="56692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캐릭터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스킬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SP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유형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효과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4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궁수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 범위 좌우 반전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쌍둥이 강도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분신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행동대체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누나↔동생 위치로 합류(한 칸에 합체)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척후병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랜덤 적 1명의 행 또는 열 공개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인간 사냥꾼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덫 설치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행동대체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 위치에 덫 설치 · 작동 시 2 피해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턴 이동 2회 실행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화약상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폭탄 설치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주변 8칸 중 한 곳에 폭탄 설치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화약상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기폭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설치된 폭탄 전부 폭발 · 1 피해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약초전문가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약초학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자신 제외 주변 모든 아군 체력 1 회복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그림자 암살자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그림자 숨기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다음 턴까지 공격·상태이상 면역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저주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행동대체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 1명에게 저주 부여(지속 0.5 피해)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양손 검객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쌍검무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이번 턴 공격 2회 실행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쥐 장수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역병의 자손들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쥐 없는 랜덤 타일 세 곳에 쥐 소환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무기상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정비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가로 ↔ 세로 공격 범위 전환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국왕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절대복종 반지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적 유닛 하나의 위치 강제 이동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드래곤 조련사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드래곤 소환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드래곤 유닛 소환(최고가 5 SP)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수도승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신성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아군 1명 체력 2 회복 + 상태이상 제거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유황이 끓는 솥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유황범람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행동대체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보드 테두리 전체 공격 · 2 피해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고문 기술자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T3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악몽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무료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표식 상태의 모든 적에게 1 피해</a:t>
                      </a:r>
                      <a:endParaRPr lang="en-US" sz="10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B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패시브 전체 목록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051560"/>
          <a:ext cx="10515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02920"/>
                <a:gridCol w="914400"/>
                <a:gridCol w="1828800"/>
                <a:gridCol w="54406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캐릭터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팩션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패시브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2B714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효과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284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마법사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FB3D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인스턴트매직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피격 시 인스턴트 SP +1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갑주무사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FB3D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아이언스킨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받는 모든 피해 −0.5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호위 무사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T2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왕실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FB3D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충성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같은 편 왕실 아군이 피격되면 대신 1 피해(왕실 0 피해)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수도승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중립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FB3D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가호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악인 공격 시 피해 3 고정 · 악인에게 피격 시 피해 0.5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학살 영웅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악인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FB3D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배반자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3×3 공격에 아군도 피해(오사)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지휘관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왕실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FB3D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사기증진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직교 인접 아군이 공격 시 그 피해 +1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고문 기술자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악인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FB3D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표식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공격·피격 시 대상에 표식 부여(악몽 콤보)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백작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T3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A89FB8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악인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7FB3D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폭정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EDE9F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티어1·2 공격자에게 피격 시 피해 −0.5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53C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F3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89F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패시브는 조건 충족 시 자동 발동 — 별도 SP·조작 불필요.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CALIGO 캐릭터 도감</dc:title>
  <dc:subject>PptxGenJS Presentation</dc:subject>
  <dc:creator>CALIGO</dc:creator>
  <cp:lastModifiedBy>CALIGO</cp:lastModifiedBy>
  <cp:revision>1</cp:revision>
  <dcterms:created xsi:type="dcterms:W3CDTF">2026-06-07T23:20:42Z</dcterms:created>
  <dcterms:modified xsi:type="dcterms:W3CDTF">2026-06-07T23:20:42Z</dcterms:modified>
</cp:coreProperties>
</file>